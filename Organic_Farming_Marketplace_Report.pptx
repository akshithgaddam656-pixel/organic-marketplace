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263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57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D706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Organic</a:t>
            </a:r>
            <a:r>
              <a:rPr spc="-25" dirty="0"/>
              <a:t> </a:t>
            </a:r>
            <a:r>
              <a:rPr dirty="0"/>
              <a:t>Farming</a:t>
            </a:r>
            <a:r>
              <a:rPr spc="-20" dirty="0"/>
              <a:t> </a:t>
            </a:r>
            <a:r>
              <a:rPr dirty="0"/>
              <a:t>Marketplace</a:t>
            </a:r>
            <a:r>
              <a:rPr spc="-2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MERN</a:t>
            </a:r>
            <a:r>
              <a:rPr spc="-20" dirty="0"/>
              <a:t> </a:t>
            </a:r>
            <a:r>
              <a:rPr dirty="0"/>
              <a:t>Stack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10" dirty="0"/>
              <a:t>Report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D706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2357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D706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Organic</a:t>
            </a:r>
            <a:r>
              <a:rPr spc="-25" dirty="0"/>
              <a:t> </a:t>
            </a:r>
            <a:r>
              <a:rPr dirty="0"/>
              <a:t>Farming</a:t>
            </a:r>
            <a:r>
              <a:rPr spc="-20" dirty="0"/>
              <a:t> </a:t>
            </a:r>
            <a:r>
              <a:rPr dirty="0"/>
              <a:t>Marketplace</a:t>
            </a:r>
            <a:r>
              <a:rPr spc="-2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MERN</a:t>
            </a:r>
            <a:r>
              <a:rPr spc="-20" dirty="0"/>
              <a:t> </a:t>
            </a:r>
            <a:r>
              <a:rPr dirty="0"/>
              <a:t>Stack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10" dirty="0"/>
              <a:t>Report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D706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2357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D706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Organic</a:t>
            </a:r>
            <a:r>
              <a:rPr spc="-25" dirty="0"/>
              <a:t> </a:t>
            </a:r>
            <a:r>
              <a:rPr dirty="0"/>
              <a:t>Farming</a:t>
            </a:r>
            <a:r>
              <a:rPr spc="-20" dirty="0"/>
              <a:t> </a:t>
            </a:r>
            <a:r>
              <a:rPr dirty="0"/>
              <a:t>Marketplace</a:t>
            </a:r>
            <a:r>
              <a:rPr spc="-2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MERN</a:t>
            </a:r>
            <a:r>
              <a:rPr spc="-20" dirty="0"/>
              <a:t> </a:t>
            </a:r>
            <a:r>
              <a:rPr dirty="0"/>
              <a:t>Stack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10" dirty="0"/>
              <a:t>Report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D706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2357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D706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Organic</a:t>
            </a:r>
            <a:r>
              <a:rPr spc="-25" dirty="0"/>
              <a:t> </a:t>
            </a:r>
            <a:r>
              <a:rPr dirty="0"/>
              <a:t>Farming</a:t>
            </a:r>
            <a:r>
              <a:rPr spc="-20" dirty="0"/>
              <a:t> </a:t>
            </a:r>
            <a:r>
              <a:rPr dirty="0"/>
              <a:t>Marketplace</a:t>
            </a:r>
            <a:r>
              <a:rPr spc="-2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MERN</a:t>
            </a:r>
            <a:r>
              <a:rPr spc="-20" dirty="0"/>
              <a:t> </a:t>
            </a:r>
            <a:r>
              <a:rPr dirty="0"/>
              <a:t>Stack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10" dirty="0"/>
              <a:t>Report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D706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D706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Organic</a:t>
            </a:r>
            <a:r>
              <a:rPr spc="-25" dirty="0"/>
              <a:t> </a:t>
            </a:r>
            <a:r>
              <a:rPr dirty="0"/>
              <a:t>Farming</a:t>
            </a:r>
            <a:r>
              <a:rPr spc="-20" dirty="0"/>
              <a:t> </a:t>
            </a:r>
            <a:r>
              <a:rPr dirty="0"/>
              <a:t>Marketplace</a:t>
            </a:r>
            <a:r>
              <a:rPr spc="-2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MERN</a:t>
            </a:r>
            <a:r>
              <a:rPr spc="-20" dirty="0"/>
              <a:t> </a:t>
            </a:r>
            <a:r>
              <a:rPr dirty="0"/>
              <a:t>Stack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10" dirty="0"/>
              <a:t>Report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5D706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19999" y="10170000"/>
            <a:ext cx="6120130" cy="0"/>
          </a:xfrm>
          <a:custGeom>
            <a:avLst/>
            <a:gdLst/>
            <a:ahLst/>
            <a:cxnLst/>
            <a:rect l="l" t="t" r="r" b="b"/>
            <a:pathLst>
              <a:path w="6120130">
                <a:moveTo>
                  <a:pt x="0" y="0"/>
                </a:moveTo>
                <a:lnTo>
                  <a:pt x="6120000" y="0"/>
                </a:lnTo>
              </a:path>
            </a:pathLst>
          </a:custGeom>
          <a:ln w="12700">
            <a:solidFill>
              <a:srgbClr val="D6E2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32822" y="1766099"/>
            <a:ext cx="3094354" cy="838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57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07299" y="10209324"/>
            <a:ext cx="2705735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5D706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Organic</a:t>
            </a:r>
            <a:r>
              <a:rPr spc="-25" dirty="0"/>
              <a:t> </a:t>
            </a:r>
            <a:r>
              <a:rPr dirty="0"/>
              <a:t>Farming</a:t>
            </a:r>
            <a:r>
              <a:rPr spc="-20" dirty="0"/>
              <a:t> </a:t>
            </a:r>
            <a:r>
              <a:rPr dirty="0"/>
              <a:t>Marketplace</a:t>
            </a:r>
            <a:r>
              <a:rPr spc="-2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MERN</a:t>
            </a:r>
            <a:r>
              <a:rPr spc="-20" dirty="0"/>
              <a:t> </a:t>
            </a:r>
            <a:r>
              <a:rPr dirty="0"/>
              <a:t>Stack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10" dirty="0"/>
              <a:t>Report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05330" y="10209324"/>
            <a:ext cx="462279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5D7062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xpressjs.com/" TargetMode="External"/><Relationship Id="rId2" Type="http://schemas.openxmlformats.org/officeDocument/2006/relationships/hyperlink" Target="https://www.mongodb.com/docs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mongoosejs.com/docs/" TargetMode="External"/><Relationship Id="rId5" Type="http://schemas.openxmlformats.org/officeDocument/2006/relationships/hyperlink" Target="https://nodejs.org/docs/" TargetMode="External"/><Relationship Id="rId4" Type="http://schemas.openxmlformats.org/officeDocument/2006/relationships/hyperlink" Target="https://react.de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29500" y="1943510"/>
            <a:ext cx="3094354" cy="83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 marR="5080" indent="-317500">
              <a:lnSpc>
                <a:spcPct val="106700"/>
              </a:lnSpc>
              <a:spcBef>
                <a:spcPts val="100"/>
              </a:spcBef>
            </a:pPr>
            <a:r>
              <a:rPr dirty="0"/>
              <a:t>ORGANIC </a:t>
            </a:r>
            <a:r>
              <a:rPr spc="-10" dirty="0"/>
              <a:t>FARMING MARKETPLACE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21232" y="3071566"/>
            <a:ext cx="331089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MERN</a:t>
            </a:r>
            <a:r>
              <a:rPr sz="1300" spc="-30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Stack</a:t>
            </a:r>
            <a:r>
              <a:rPr sz="1300" spc="-25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Web</a:t>
            </a:r>
            <a:r>
              <a:rPr sz="1300" spc="-25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Application</a:t>
            </a:r>
            <a:r>
              <a:rPr sz="1300" spc="-25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Project</a:t>
            </a:r>
            <a:r>
              <a:rPr sz="1300" spc="-30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96654"/>
                </a:solidFill>
                <a:latin typeface="Arial"/>
                <a:cs typeface="Arial"/>
              </a:rPr>
              <a:t>Report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00825" y="3528425"/>
          <a:ext cx="4751704" cy="1180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9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Project</a:t>
                      </a:r>
                      <a:r>
                        <a:rPr sz="800" b="1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Topic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L w="6350">
                      <a:solidFill>
                        <a:srgbClr val="B8CDBC"/>
                      </a:solidFill>
                      <a:prstDash val="solid"/>
                    </a:lnL>
                    <a:lnR w="6350">
                      <a:solidFill>
                        <a:srgbClr val="B8CDBC"/>
                      </a:solidFill>
                      <a:prstDash val="solid"/>
                    </a:lnR>
                    <a:lnT w="6350">
                      <a:solidFill>
                        <a:srgbClr val="B8CDBC"/>
                      </a:solidFill>
                      <a:prstDash val="solid"/>
                    </a:lnT>
                    <a:lnB w="6350">
                      <a:solidFill>
                        <a:srgbClr val="B8CDBC"/>
                      </a:solidFill>
                      <a:prstDash val="solid"/>
                    </a:lnB>
                    <a:solidFill>
                      <a:srgbClr val="E9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34.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Organic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Farming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Marketplace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L w="6350">
                      <a:solidFill>
                        <a:srgbClr val="B8CDBC"/>
                      </a:solidFill>
                      <a:prstDash val="solid"/>
                    </a:lnL>
                    <a:lnR w="6350">
                      <a:solidFill>
                        <a:srgbClr val="B8CDBC"/>
                      </a:solidFill>
                      <a:prstDash val="solid"/>
                    </a:lnR>
                    <a:lnT w="6350">
                      <a:solidFill>
                        <a:srgbClr val="B8CDBC"/>
                      </a:solidFill>
                      <a:prstDash val="solid"/>
                    </a:lnT>
                    <a:lnB w="6350">
                      <a:solidFill>
                        <a:srgbClr val="B8CD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Technology</a:t>
                      </a:r>
                      <a:r>
                        <a:rPr sz="800" b="1" spc="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20" dirty="0">
                          <a:latin typeface="Arial"/>
                          <a:cs typeface="Arial"/>
                        </a:rPr>
                        <a:t>Stack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L w="6350">
                      <a:solidFill>
                        <a:srgbClr val="B8CDBC"/>
                      </a:solidFill>
                      <a:prstDash val="solid"/>
                    </a:lnL>
                    <a:lnR w="6350">
                      <a:solidFill>
                        <a:srgbClr val="B8CDBC"/>
                      </a:solidFill>
                      <a:prstDash val="solid"/>
                    </a:lnR>
                    <a:lnT w="6350">
                      <a:solidFill>
                        <a:srgbClr val="B8CDBC"/>
                      </a:solidFill>
                      <a:prstDash val="solid"/>
                    </a:lnT>
                    <a:lnB w="6350">
                      <a:solidFill>
                        <a:srgbClr val="B8CDBC"/>
                      </a:solidFill>
                      <a:prstDash val="solid"/>
                    </a:lnB>
                    <a:solidFill>
                      <a:srgbClr val="E9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MongoDB,</a:t>
                      </a:r>
                      <a:r>
                        <a:rPr sz="800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Express.js,</a:t>
                      </a:r>
                      <a:r>
                        <a:rPr sz="800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React.js,</a:t>
                      </a:r>
                      <a:r>
                        <a:rPr sz="800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Node.js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L w="6350">
                      <a:solidFill>
                        <a:srgbClr val="B8CDBC"/>
                      </a:solidFill>
                      <a:prstDash val="solid"/>
                    </a:lnL>
                    <a:lnR w="6350">
                      <a:solidFill>
                        <a:srgbClr val="B8CDBC"/>
                      </a:solidFill>
                      <a:prstDash val="solid"/>
                    </a:lnR>
                    <a:lnT w="6350">
                      <a:solidFill>
                        <a:srgbClr val="B8CDBC"/>
                      </a:solidFill>
                      <a:prstDash val="solid"/>
                    </a:lnT>
                    <a:lnB w="6350">
                      <a:solidFill>
                        <a:srgbClr val="B8CD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Project</a:t>
                      </a:r>
                      <a:r>
                        <a:rPr sz="800" b="1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20" dirty="0">
                          <a:latin typeface="Arial"/>
                          <a:cs typeface="Arial"/>
                        </a:rPr>
                        <a:t>Type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L w="6350">
                      <a:solidFill>
                        <a:srgbClr val="B8CDBC"/>
                      </a:solidFill>
                      <a:prstDash val="solid"/>
                    </a:lnL>
                    <a:lnR w="6350">
                      <a:solidFill>
                        <a:srgbClr val="B8CDBC"/>
                      </a:solidFill>
                      <a:prstDash val="solid"/>
                    </a:lnR>
                    <a:lnT w="6350">
                      <a:solidFill>
                        <a:srgbClr val="B8CDBC"/>
                      </a:solidFill>
                      <a:prstDash val="solid"/>
                    </a:lnT>
                    <a:lnB w="6350">
                      <a:solidFill>
                        <a:srgbClr val="B8CDBC"/>
                      </a:solidFill>
                      <a:prstDash val="solid"/>
                    </a:lnB>
                    <a:solidFill>
                      <a:srgbClr val="E9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Full-stack</a:t>
                      </a:r>
                      <a:r>
                        <a:rPr sz="8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web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application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L w="6350">
                      <a:solidFill>
                        <a:srgbClr val="B8CDBC"/>
                      </a:solidFill>
                      <a:prstDash val="solid"/>
                    </a:lnL>
                    <a:lnR w="6350">
                      <a:solidFill>
                        <a:srgbClr val="B8CDBC"/>
                      </a:solidFill>
                      <a:prstDash val="solid"/>
                    </a:lnR>
                    <a:lnT w="6350">
                      <a:solidFill>
                        <a:srgbClr val="B8CDBC"/>
                      </a:solidFill>
                      <a:prstDash val="solid"/>
                    </a:lnT>
                    <a:lnB w="6350">
                      <a:solidFill>
                        <a:srgbClr val="B8CD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72106" y="5364120"/>
            <a:ext cx="581660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28200"/>
              </a:lnSpc>
              <a:spcBef>
                <a:spcPts val="100"/>
              </a:spcBef>
            </a:pP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Prepared</a:t>
            </a:r>
            <a:r>
              <a:rPr sz="1300" spc="-40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as</a:t>
            </a:r>
            <a:r>
              <a:rPr sz="1300" spc="-40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a</a:t>
            </a:r>
            <a:r>
              <a:rPr sz="1300" spc="-35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project</a:t>
            </a:r>
            <a:r>
              <a:rPr sz="1300" spc="-40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report</a:t>
            </a:r>
            <a:r>
              <a:rPr sz="1300" spc="-35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describing</a:t>
            </a:r>
            <a:r>
              <a:rPr sz="1300" spc="-40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the</a:t>
            </a:r>
            <a:r>
              <a:rPr sz="1300" spc="-40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problem,</a:t>
            </a:r>
            <a:r>
              <a:rPr sz="1300" spc="-35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objectives,</a:t>
            </a:r>
            <a:r>
              <a:rPr sz="1300" spc="-40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system</a:t>
            </a:r>
            <a:r>
              <a:rPr sz="1300" spc="-35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96654"/>
                </a:solidFill>
                <a:latin typeface="Arial"/>
                <a:cs typeface="Arial"/>
              </a:rPr>
              <a:t>design,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implementation</a:t>
            </a:r>
            <a:r>
              <a:rPr sz="1300" spc="-40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approach,</a:t>
            </a:r>
            <a:r>
              <a:rPr sz="1300" spc="-40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testing,</a:t>
            </a:r>
            <a:r>
              <a:rPr sz="1300" spc="-40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and</a:t>
            </a:r>
            <a:r>
              <a:rPr sz="1300" spc="-40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expected</a:t>
            </a:r>
            <a:r>
              <a:rPr sz="1300" spc="-40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results</a:t>
            </a:r>
            <a:r>
              <a:rPr sz="1300" spc="-40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of</a:t>
            </a:r>
            <a:r>
              <a:rPr sz="1300" spc="-35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a</a:t>
            </a:r>
            <a:r>
              <a:rPr sz="1300" spc="-40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digital</a:t>
            </a:r>
            <a:r>
              <a:rPr sz="1300" spc="-40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96654"/>
                </a:solidFill>
                <a:latin typeface="Arial"/>
                <a:cs typeface="Arial"/>
              </a:rPr>
              <a:t>marketplace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for</a:t>
            </a:r>
            <a:r>
              <a:rPr sz="1300" spc="-30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organic</a:t>
            </a:r>
            <a:r>
              <a:rPr sz="1300" spc="-30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farm</a:t>
            </a:r>
            <a:r>
              <a:rPr sz="1300" spc="-25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96654"/>
                </a:solidFill>
                <a:latin typeface="Arial"/>
                <a:cs typeface="Arial"/>
              </a:rPr>
              <a:t>products.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9922" y="7262000"/>
            <a:ext cx="4312607" cy="14183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00"/>
              </a:spcBef>
              <a:tabLst>
                <a:tab pos="3887470" algn="l"/>
              </a:tabLst>
            </a:pP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Submitted by:</a:t>
            </a:r>
            <a:r>
              <a:rPr lang="en-IN" sz="1300" dirty="0">
                <a:solidFill>
                  <a:srgbClr val="496654"/>
                </a:solidFill>
                <a:latin typeface="Arial"/>
                <a:cs typeface="Arial"/>
              </a:rPr>
              <a:t> GADDAM AKSHITH REDDY,</a:t>
            </a:r>
          </a:p>
          <a:p>
            <a:pPr marL="34925">
              <a:lnSpc>
                <a:spcPct val="100000"/>
              </a:lnSpc>
              <a:spcBef>
                <a:spcPts val="100"/>
              </a:spcBef>
              <a:tabLst>
                <a:tab pos="3887470" algn="l"/>
              </a:tabLst>
            </a:pPr>
            <a:r>
              <a:rPr lang="en-IN" sz="1300" dirty="0">
                <a:solidFill>
                  <a:srgbClr val="496654"/>
                </a:solidFill>
                <a:latin typeface="Arial"/>
                <a:cs typeface="Arial"/>
              </a:rPr>
              <a:t>                       KUNTA RAGHUVARDHAN REDDY</a:t>
            </a:r>
          </a:p>
          <a:p>
            <a:pPr marL="34925">
              <a:lnSpc>
                <a:spcPct val="100000"/>
              </a:lnSpc>
              <a:spcBef>
                <a:spcPts val="100"/>
              </a:spcBef>
              <a:tabLst>
                <a:tab pos="3887470" algn="l"/>
              </a:tabLst>
            </a:pPr>
            <a:r>
              <a:rPr lang="en-IN" sz="1300" dirty="0">
                <a:solidFill>
                  <a:srgbClr val="496654"/>
                </a:solidFill>
                <a:latin typeface="Arial"/>
                <a:cs typeface="Arial"/>
              </a:rPr>
              <a:t>                        ANNEBOINA SAI SIDDARTHA</a:t>
            </a:r>
          </a:p>
          <a:p>
            <a:pPr marL="34925">
              <a:lnSpc>
                <a:spcPct val="100000"/>
              </a:lnSpc>
              <a:spcBef>
                <a:spcPts val="100"/>
              </a:spcBef>
              <a:tabLst>
                <a:tab pos="3887470" algn="l"/>
              </a:tabLst>
            </a:pPr>
            <a:r>
              <a:rPr lang="en-IN" sz="1300" dirty="0">
                <a:solidFill>
                  <a:srgbClr val="496654"/>
                </a:solidFill>
                <a:latin typeface="Arial"/>
                <a:cs typeface="Arial"/>
              </a:rPr>
              <a:t>                        SALUKUTI BHANU PRAKESH REDDY</a:t>
            </a: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 </a:t>
            </a:r>
            <a:r>
              <a:rPr sz="1300" u="sng" dirty="0">
                <a:solidFill>
                  <a:srgbClr val="496654"/>
                </a:solidFill>
                <a:uFill>
                  <a:solidFill>
                    <a:srgbClr val="486553"/>
                  </a:solidFill>
                </a:uFill>
                <a:latin typeface="Arial"/>
                <a:cs typeface="Arial"/>
              </a:rPr>
              <a:t>	</a:t>
            </a: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  <a:tabLst>
                <a:tab pos="3910329" algn="l"/>
              </a:tabLst>
            </a:pPr>
            <a:r>
              <a:rPr sz="1300" dirty="0">
                <a:solidFill>
                  <a:srgbClr val="496654"/>
                </a:solidFill>
                <a:latin typeface="Arial"/>
                <a:cs typeface="Arial"/>
              </a:rPr>
              <a:t>Department / College: </a:t>
            </a:r>
            <a:r>
              <a:rPr lang="en-IN" sz="1300" u="sng" dirty="0">
                <a:solidFill>
                  <a:srgbClr val="496654"/>
                </a:solidFill>
                <a:uFill>
                  <a:solidFill>
                    <a:srgbClr val="486553"/>
                  </a:solidFill>
                </a:uFill>
                <a:latin typeface="Arial"/>
                <a:cs typeface="Arial"/>
              </a:rPr>
              <a:t>CSE(AI&amp;ML)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Organic</a:t>
            </a:r>
            <a:r>
              <a:rPr spc="-25" dirty="0"/>
              <a:t> </a:t>
            </a:r>
            <a:r>
              <a:rPr dirty="0"/>
              <a:t>Farming</a:t>
            </a:r>
            <a:r>
              <a:rPr spc="-20" dirty="0"/>
              <a:t> </a:t>
            </a:r>
            <a:r>
              <a:rPr dirty="0"/>
              <a:t>Marketplace</a:t>
            </a:r>
            <a:r>
              <a:rPr spc="-2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MERN</a:t>
            </a:r>
            <a:r>
              <a:rPr spc="-20" dirty="0"/>
              <a:t> </a:t>
            </a:r>
            <a:r>
              <a:rPr dirty="0"/>
              <a:t>Stack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10" dirty="0"/>
              <a:t>Report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DD5362-6328-6A0A-52B8-5339889ED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165"/>
            <a:ext cx="7556500" cy="164993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499" y="711500"/>
            <a:ext cx="3148965" cy="4881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TABLE</a:t>
            </a:r>
            <a:r>
              <a:rPr sz="1600" b="1" spc="-15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OF</a:t>
            </a: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 CONTENTS</a:t>
            </a:r>
            <a:endParaRPr sz="160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98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1. </a:t>
            </a:r>
            <a:r>
              <a:rPr sz="950" spc="-10" dirty="0">
                <a:latin typeface="Arial"/>
                <a:cs typeface="Arial"/>
              </a:rPr>
              <a:t>Abstract</a:t>
            </a:r>
            <a:endParaRPr sz="95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2. </a:t>
            </a:r>
            <a:r>
              <a:rPr sz="950" spc="-10" dirty="0">
                <a:latin typeface="Arial"/>
                <a:cs typeface="Arial"/>
              </a:rPr>
              <a:t>Introduction</a:t>
            </a:r>
            <a:endParaRPr sz="95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3. Problem </a:t>
            </a:r>
            <a:r>
              <a:rPr sz="950" spc="-10" dirty="0">
                <a:latin typeface="Arial"/>
                <a:cs typeface="Arial"/>
              </a:rPr>
              <a:t>Statement</a:t>
            </a:r>
            <a:endParaRPr sz="95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4. </a:t>
            </a:r>
            <a:r>
              <a:rPr sz="950" spc="-10" dirty="0">
                <a:latin typeface="Arial"/>
                <a:cs typeface="Arial"/>
              </a:rPr>
              <a:t>Objectives</a:t>
            </a:r>
            <a:endParaRPr sz="95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5. Scope of the </a:t>
            </a:r>
            <a:r>
              <a:rPr sz="950" spc="-10" dirty="0">
                <a:latin typeface="Arial"/>
                <a:cs typeface="Arial"/>
              </a:rPr>
              <a:t>Project</a:t>
            </a:r>
            <a:endParaRPr sz="95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6. Existing System and Proposed </a:t>
            </a:r>
            <a:r>
              <a:rPr sz="950" spc="-10" dirty="0">
                <a:latin typeface="Arial"/>
                <a:cs typeface="Arial"/>
              </a:rPr>
              <a:t>System</a:t>
            </a:r>
            <a:endParaRPr sz="95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7. Functional and Non-Functional </a:t>
            </a:r>
            <a:r>
              <a:rPr sz="950" spc="-10" dirty="0">
                <a:latin typeface="Arial"/>
                <a:cs typeface="Arial"/>
              </a:rPr>
              <a:t>Requirements</a:t>
            </a:r>
            <a:endParaRPr sz="95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8. Technology </a:t>
            </a:r>
            <a:r>
              <a:rPr sz="950" spc="-10" dirty="0">
                <a:latin typeface="Arial"/>
                <a:cs typeface="Arial"/>
              </a:rPr>
              <a:t>Stack</a:t>
            </a:r>
            <a:endParaRPr sz="95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9. System </a:t>
            </a:r>
            <a:r>
              <a:rPr sz="950" spc="-10" dirty="0">
                <a:latin typeface="Arial"/>
                <a:cs typeface="Arial"/>
              </a:rPr>
              <a:t>Architecture</a:t>
            </a:r>
            <a:endParaRPr sz="95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10. Database </a:t>
            </a:r>
            <a:r>
              <a:rPr sz="950" spc="-10" dirty="0">
                <a:latin typeface="Arial"/>
                <a:cs typeface="Arial"/>
              </a:rPr>
              <a:t>Design</a:t>
            </a:r>
            <a:endParaRPr sz="95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11. Module </a:t>
            </a:r>
            <a:r>
              <a:rPr sz="950" spc="-10" dirty="0">
                <a:latin typeface="Arial"/>
                <a:cs typeface="Arial"/>
              </a:rPr>
              <a:t>Description</a:t>
            </a:r>
            <a:endParaRPr sz="95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12.</a:t>
            </a:r>
            <a:r>
              <a:rPr sz="950" spc="-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CRUD</a:t>
            </a:r>
            <a:r>
              <a:rPr sz="950" spc="-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Operations</a:t>
            </a:r>
            <a:r>
              <a:rPr sz="950" spc="-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-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REST</a:t>
            </a:r>
            <a:r>
              <a:rPr sz="950" spc="-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API</a:t>
            </a:r>
            <a:r>
              <a:rPr sz="950" spc="-10" dirty="0">
                <a:latin typeface="Arial"/>
                <a:cs typeface="Arial"/>
              </a:rPr>
              <a:t> Design</a:t>
            </a:r>
            <a:endParaRPr sz="95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13. Authentication and Role-Based </a:t>
            </a:r>
            <a:r>
              <a:rPr sz="950" spc="-10" dirty="0">
                <a:latin typeface="Arial"/>
                <a:cs typeface="Arial"/>
              </a:rPr>
              <a:t>Access</a:t>
            </a:r>
            <a:endParaRPr sz="95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14. Implementation </a:t>
            </a:r>
            <a:r>
              <a:rPr sz="950" spc="-10" dirty="0">
                <a:latin typeface="Arial"/>
                <a:cs typeface="Arial"/>
              </a:rPr>
              <a:t>Workflow</a:t>
            </a:r>
            <a:endParaRPr sz="95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15. Testing and </a:t>
            </a:r>
            <a:r>
              <a:rPr sz="950" spc="-10" dirty="0">
                <a:latin typeface="Arial"/>
                <a:cs typeface="Arial"/>
              </a:rPr>
              <a:t>Validation</a:t>
            </a:r>
            <a:endParaRPr sz="95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16. Expected </a:t>
            </a:r>
            <a:r>
              <a:rPr sz="950" spc="-10" dirty="0">
                <a:latin typeface="Arial"/>
                <a:cs typeface="Arial"/>
              </a:rPr>
              <a:t>Results</a:t>
            </a:r>
            <a:endParaRPr sz="95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17. Advantages, Limitations, and Future </a:t>
            </a:r>
            <a:r>
              <a:rPr sz="950" spc="-10" dirty="0">
                <a:latin typeface="Arial"/>
                <a:cs typeface="Arial"/>
              </a:rPr>
              <a:t>Enhancements</a:t>
            </a:r>
            <a:endParaRPr sz="95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18. </a:t>
            </a:r>
            <a:r>
              <a:rPr sz="950" spc="-10" dirty="0">
                <a:latin typeface="Arial"/>
                <a:cs typeface="Arial"/>
              </a:rPr>
              <a:t>Conclusion</a:t>
            </a:r>
            <a:endParaRPr sz="95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19. </a:t>
            </a:r>
            <a:r>
              <a:rPr sz="950" spc="-10" dirty="0">
                <a:latin typeface="Arial"/>
                <a:cs typeface="Arial"/>
              </a:rPr>
              <a:t>References</a:t>
            </a:r>
            <a:endParaRPr sz="9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Organic</a:t>
            </a:r>
            <a:r>
              <a:rPr spc="-25" dirty="0"/>
              <a:t> </a:t>
            </a:r>
            <a:r>
              <a:rPr dirty="0"/>
              <a:t>Farming</a:t>
            </a:r>
            <a:r>
              <a:rPr spc="-20" dirty="0"/>
              <a:t> </a:t>
            </a:r>
            <a:r>
              <a:rPr dirty="0"/>
              <a:t>Marketplace</a:t>
            </a:r>
            <a:r>
              <a:rPr spc="-2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MERN</a:t>
            </a:r>
            <a:r>
              <a:rPr spc="-20" dirty="0"/>
              <a:t> </a:t>
            </a:r>
            <a:r>
              <a:rPr dirty="0"/>
              <a:t>Stack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10" dirty="0"/>
              <a:t>Report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499" y="711500"/>
            <a:ext cx="5993765" cy="9161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38760" algn="l"/>
              </a:tabLst>
            </a:pP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Abstract</a:t>
            </a:r>
            <a:endParaRPr sz="1600">
              <a:latin typeface="Arial"/>
              <a:cs typeface="Arial"/>
            </a:endParaRPr>
          </a:p>
          <a:p>
            <a:pPr marL="12700" marR="5080" algn="just">
              <a:lnSpc>
                <a:spcPct val="122800"/>
              </a:lnSpc>
              <a:spcBef>
                <a:spcPts val="720"/>
              </a:spcBef>
            </a:pPr>
            <a:r>
              <a:rPr sz="950" dirty="0">
                <a:latin typeface="Arial"/>
                <a:cs typeface="Arial"/>
              </a:rPr>
              <a:t>The</a:t>
            </a:r>
            <a:r>
              <a:rPr sz="950" spc="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Organic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Farming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Marketplace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is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full-stack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web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application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designed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to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connect</a:t>
            </a:r>
            <a:r>
              <a:rPr sz="950" spc="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farmers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who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sell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organic </a:t>
            </a:r>
            <a:r>
              <a:rPr sz="950" dirty="0">
                <a:latin typeface="Arial"/>
                <a:cs typeface="Arial"/>
              </a:rPr>
              <a:t>products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with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customers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who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want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to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discover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purchase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them.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application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stores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product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details, </a:t>
            </a:r>
            <a:r>
              <a:rPr sz="950" dirty="0">
                <a:latin typeface="Arial"/>
                <a:cs typeface="Arial"/>
              </a:rPr>
              <a:t>farmer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information,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prices,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available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quantities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in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MongoDB.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React.js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provides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interactive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user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interface, </a:t>
            </a:r>
            <a:r>
              <a:rPr sz="950" dirty="0">
                <a:latin typeface="Arial"/>
                <a:cs typeface="Arial"/>
              </a:rPr>
              <a:t>while</a:t>
            </a:r>
            <a:r>
              <a:rPr sz="950" spc="7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Node.js</a:t>
            </a:r>
            <a:r>
              <a:rPr sz="950" spc="7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7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Express.js</a:t>
            </a:r>
            <a:r>
              <a:rPr sz="950" spc="7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expose</a:t>
            </a:r>
            <a:r>
              <a:rPr sz="950" spc="7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REST</a:t>
            </a:r>
            <a:r>
              <a:rPr sz="950" spc="7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APIs</a:t>
            </a:r>
            <a:r>
              <a:rPr sz="950" spc="7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for</a:t>
            </a:r>
            <a:r>
              <a:rPr sz="950" spc="7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data</a:t>
            </a:r>
            <a:r>
              <a:rPr sz="950" spc="7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management.</a:t>
            </a:r>
            <a:r>
              <a:rPr sz="950" spc="7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</a:t>
            </a:r>
            <a:r>
              <a:rPr sz="950" spc="7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system</a:t>
            </a:r>
            <a:r>
              <a:rPr sz="950" spc="7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demonstrates</a:t>
            </a:r>
            <a:r>
              <a:rPr sz="950" spc="7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</a:t>
            </a:r>
            <a:r>
              <a:rPr sz="950" spc="70" dirty="0">
                <a:latin typeface="Arial"/>
                <a:cs typeface="Arial"/>
              </a:rPr>
              <a:t> </a:t>
            </a:r>
            <a:r>
              <a:rPr sz="950" spc="-20" dirty="0">
                <a:latin typeface="Arial"/>
                <a:cs typeface="Arial"/>
              </a:rPr>
              <a:t>MERN </a:t>
            </a:r>
            <a:r>
              <a:rPr sz="950" dirty="0">
                <a:latin typeface="Arial"/>
                <a:cs typeface="Arial"/>
              </a:rPr>
              <a:t>stack,</a:t>
            </a:r>
            <a:r>
              <a:rPr sz="950" spc="33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CRUD</a:t>
            </a:r>
            <a:r>
              <a:rPr sz="950" spc="33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operations,</a:t>
            </a:r>
            <a:r>
              <a:rPr sz="950" spc="33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API</a:t>
            </a:r>
            <a:r>
              <a:rPr sz="950" spc="33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development,</a:t>
            </a:r>
            <a:r>
              <a:rPr sz="950" spc="3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33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authentication</a:t>
            </a:r>
            <a:r>
              <a:rPr sz="950" spc="33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with</a:t>
            </a:r>
            <a:r>
              <a:rPr sz="950" spc="33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role-based</a:t>
            </a:r>
            <a:r>
              <a:rPr sz="950" spc="33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permissions.</a:t>
            </a:r>
            <a:r>
              <a:rPr sz="950" spc="3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</a:t>
            </a:r>
            <a:r>
              <a:rPr sz="950" spc="33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report </a:t>
            </a:r>
            <a:r>
              <a:rPr sz="950" dirty="0">
                <a:latin typeface="Arial"/>
                <a:cs typeface="Arial"/>
              </a:rPr>
              <a:t>describes</a:t>
            </a:r>
            <a:r>
              <a:rPr sz="950" spc="1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</a:t>
            </a:r>
            <a:r>
              <a:rPr sz="950" spc="1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proposed</a:t>
            </a:r>
            <a:r>
              <a:rPr sz="950" spc="1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implementation</a:t>
            </a:r>
            <a:r>
              <a:rPr sz="950" spc="1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1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its</a:t>
            </a:r>
            <a:r>
              <a:rPr sz="950" spc="1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expected</a:t>
            </a:r>
            <a:r>
              <a:rPr sz="950" spc="1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outcomes;</a:t>
            </a:r>
            <a:r>
              <a:rPr sz="950" spc="1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actual</a:t>
            </a:r>
            <a:r>
              <a:rPr sz="950" spc="1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results</a:t>
            </a:r>
            <a:r>
              <a:rPr sz="950" spc="1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should</a:t>
            </a:r>
            <a:r>
              <a:rPr sz="950" spc="1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be</a:t>
            </a:r>
            <a:r>
              <a:rPr sz="950" spc="1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filled</a:t>
            </a:r>
            <a:r>
              <a:rPr sz="950" spc="1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in</a:t>
            </a:r>
            <a:r>
              <a:rPr sz="950" spc="1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after</a:t>
            </a:r>
            <a:r>
              <a:rPr sz="950" spc="140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the </a:t>
            </a:r>
            <a:r>
              <a:rPr sz="950" dirty="0">
                <a:latin typeface="Arial"/>
                <a:cs typeface="Arial"/>
              </a:rPr>
              <a:t>application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is implemented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 </a:t>
            </a:r>
            <a:r>
              <a:rPr sz="950" spc="-10" dirty="0">
                <a:latin typeface="Arial"/>
                <a:cs typeface="Arial"/>
              </a:rPr>
              <a:t>tested.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Arial"/>
              <a:cs typeface="Arial"/>
            </a:endParaRPr>
          </a:p>
          <a:p>
            <a:pPr marL="238760" indent="-226060">
              <a:lnSpc>
                <a:spcPct val="100000"/>
              </a:lnSpc>
              <a:buAutoNum type="arabicPeriod" startAt="2"/>
              <a:tabLst>
                <a:tab pos="238760" algn="l"/>
              </a:tabLst>
            </a:pP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Introduction</a:t>
            </a:r>
            <a:endParaRPr sz="1600">
              <a:latin typeface="Arial"/>
              <a:cs typeface="Arial"/>
            </a:endParaRPr>
          </a:p>
          <a:p>
            <a:pPr marL="12700" marR="5080" algn="just">
              <a:lnSpc>
                <a:spcPct val="122800"/>
              </a:lnSpc>
              <a:spcBef>
                <a:spcPts val="720"/>
              </a:spcBef>
            </a:pPr>
            <a:r>
              <a:rPr sz="950" dirty="0">
                <a:latin typeface="Arial"/>
                <a:cs typeface="Arial"/>
              </a:rPr>
              <a:t>Organic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farming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focuses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on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agricultural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practices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that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reduce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reliance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on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synthetic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fertilizers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pesticides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and </a:t>
            </a:r>
            <a:r>
              <a:rPr sz="950" dirty="0">
                <a:latin typeface="Arial"/>
                <a:cs typeface="Arial"/>
              </a:rPr>
              <a:t>support</a:t>
            </a:r>
            <a:r>
              <a:rPr sz="950" spc="114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soil</a:t>
            </a:r>
            <a:r>
              <a:rPr sz="950" spc="114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114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ecosystem</a:t>
            </a:r>
            <a:r>
              <a:rPr sz="950" spc="114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health.</a:t>
            </a:r>
            <a:r>
              <a:rPr sz="950" spc="114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Farmers</a:t>
            </a:r>
            <a:r>
              <a:rPr sz="950" spc="114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may</a:t>
            </a:r>
            <a:r>
              <a:rPr sz="950" spc="114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find</a:t>
            </a:r>
            <a:r>
              <a:rPr sz="950" spc="114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it</a:t>
            </a:r>
            <a:r>
              <a:rPr sz="950" spc="114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difficult</a:t>
            </a:r>
            <a:r>
              <a:rPr sz="950" spc="114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to</a:t>
            </a:r>
            <a:r>
              <a:rPr sz="950" spc="114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reach</a:t>
            </a:r>
            <a:r>
              <a:rPr sz="950" spc="114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customers</a:t>
            </a:r>
            <a:r>
              <a:rPr sz="950" spc="114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directly,</a:t>
            </a:r>
            <a:r>
              <a:rPr sz="950" spc="114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while</a:t>
            </a:r>
            <a:r>
              <a:rPr sz="950" spc="114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customers </a:t>
            </a:r>
            <a:r>
              <a:rPr sz="950" dirty="0">
                <a:latin typeface="Arial"/>
                <a:cs typeface="Arial"/>
              </a:rPr>
              <a:t>may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struggle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to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find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clear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information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about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product’s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source,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price,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availability.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digital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marketplace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can </a:t>
            </a:r>
            <a:r>
              <a:rPr sz="950" dirty="0">
                <a:latin typeface="Arial"/>
                <a:cs typeface="Arial"/>
              </a:rPr>
              <a:t>make</a:t>
            </a:r>
            <a:r>
              <a:rPr sz="950" spc="1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product</a:t>
            </a:r>
            <a:r>
              <a:rPr sz="950" spc="1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information</a:t>
            </a:r>
            <a:r>
              <a:rPr sz="950" spc="1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easier</a:t>
            </a:r>
            <a:r>
              <a:rPr sz="950" spc="1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to</a:t>
            </a:r>
            <a:r>
              <a:rPr sz="950" spc="1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access</a:t>
            </a:r>
            <a:r>
              <a:rPr sz="950" spc="1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1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help</a:t>
            </a:r>
            <a:r>
              <a:rPr sz="950" spc="1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farmers</a:t>
            </a:r>
            <a:r>
              <a:rPr sz="950" spc="1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manage</a:t>
            </a:r>
            <a:r>
              <a:rPr sz="950" spc="1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their</a:t>
            </a:r>
            <a:r>
              <a:rPr sz="950" spc="1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listings.</a:t>
            </a:r>
            <a:r>
              <a:rPr sz="950" spc="1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</a:t>
            </a:r>
            <a:r>
              <a:rPr sz="950" spc="1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proposed</a:t>
            </a:r>
            <a:r>
              <a:rPr sz="950" spc="110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application </a:t>
            </a:r>
            <a:r>
              <a:rPr sz="950" dirty="0">
                <a:latin typeface="Arial"/>
                <a:cs typeface="Arial"/>
              </a:rPr>
              <a:t>provides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 central place to list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organic products, maintain inventory, and view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marketplace </a:t>
            </a:r>
            <a:r>
              <a:rPr sz="950" spc="-10" dirty="0">
                <a:latin typeface="Arial"/>
                <a:cs typeface="Arial"/>
              </a:rPr>
              <a:t>records.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950">
              <a:latin typeface="Arial"/>
              <a:cs typeface="Arial"/>
            </a:endParaRPr>
          </a:p>
          <a:p>
            <a:pPr marL="238760" indent="-226060">
              <a:lnSpc>
                <a:spcPct val="100000"/>
              </a:lnSpc>
              <a:buAutoNum type="arabicPeriod" startAt="3"/>
              <a:tabLst>
                <a:tab pos="238760" algn="l"/>
              </a:tabLst>
            </a:pP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Problem </a:t>
            </a: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Statement</a:t>
            </a:r>
            <a:endParaRPr sz="1600">
              <a:latin typeface="Arial"/>
              <a:cs typeface="Arial"/>
            </a:endParaRPr>
          </a:p>
          <a:p>
            <a:pPr marL="12700" marR="5080" algn="just">
              <a:lnSpc>
                <a:spcPct val="122800"/>
              </a:lnSpc>
              <a:spcBef>
                <a:spcPts val="720"/>
              </a:spcBef>
            </a:pPr>
            <a:r>
              <a:rPr sz="950" dirty="0">
                <a:latin typeface="Arial"/>
                <a:cs typeface="Arial"/>
              </a:rPr>
              <a:t>Build</a:t>
            </a:r>
            <a:r>
              <a:rPr sz="950" spc="-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 MERN-based organic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farming marketplace that allows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farmers or authorized administrators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to add, </a:t>
            </a:r>
            <a:r>
              <a:rPr sz="950" spc="-10" dirty="0">
                <a:latin typeface="Arial"/>
                <a:cs typeface="Arial"/>
              </a:rPr>
              <a:t>view, </a:t>
            </a:r>
            <a:r>
              <a:rPr sz="950" dirty="0">
                <a:latin typeface="Arial"/>
                <a:cs typeface="Arial"/>
              </a:rPr>
              <a:t>update,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manage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organic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product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listings.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application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must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store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retrieve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farmer,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product,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price,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and </a:t>
            </a:r>
            <a:r>
              <a:rPr sz="950" dirty="0">
                <a:latin typeface="Arial"/>
                <a:cs typeface="Arial"/>
              </a:rPr>
              <a:t>quantity</a:t>
            </a:r>
            <a:r>
              <a:rPr sz="950" spc="2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information</a:t>
            </a:r>
            <a:r>
              <a:rPr sz="950" spc="2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through</a:t>
            </a:r>
            <a:r>
              <a:rPr sz="950" spc="2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MongoDB.</a:t>
            </a:r>
            <a:r>
              <a:rPr sz="950" spc="2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</a:t>
            </a:r>
            <a:r>
              <a:rPr sz="950" spc="2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React.js</a:t>
            </a:r>
            <a:r>
              <a:rPr sz="950" spc="2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frontend</a:t>
            </a:r>
            <a:r>
              <a:rPr sz="950" spc="2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communicates</a:t>
            </a:r>
            <a:r>
              <a:rPr sz="950" spc="2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with</a:t>
            </a:r>
            <a:r>
              <a:rPr sz="950" spc="2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</a:t>
            </a:r>
            <a:r>
              <a:rPr sz="950" spc="24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Node.js</a:t>
            </a:r>
            <a:r>
              <a:rPr sz="950" spc="2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24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Express.js </a:t>
            </a:r>
            <a:r>
              <a:rPr sz="950" dirty="0">
                <a:latin typeface="Arial"/>
                <a:cs typeface="Arial"/>
              </a:rPr>
              <a:t>backend</a:t>
            </a:r>
            <a:r>
              <a:rPr sz="950" spc="3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through</a:t>
            </a:r>
            <a:r>
              <a:rPr sz="950" spc="3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REST</a:t>
            </a:r>
            <a:r>
              <a:rPr sz="950" spc="3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APIs.</a:t>
            </a:r>
            <a:r>
              <a:rPr sz="950" spc="3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Authentication</a:t>
            </a:r>
            <a:r>
              <a:rPr sz="950" spc="3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3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role-based</a:t>
            </a:r>
            <a:r>
              <a:rPr sz="950" spc="3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access</a:t>
            </a:r>
            <a:r>
              <a:rPr sz="950" spc="3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should</a:t>
            </a:r>
            <a:r>
              <a:rPr sz="950" spc="3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protect</a:t>
            </a:r>
            <a:r>
              <a:rPr sz="950" spc="3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actions</a:t>
            </a:r>
            <a:r>
              <a:rPr sz="950" spc="3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that</a:t>
            </a:r>
            <a:r>
              <a:rPr sz="950" spc="31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require authorization.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Arial"/>
              <a:cs typeface="Arial"/>
            </a:endParaRPr>
          </a:p>
          <a:p>
            <a:pPr marL="238760" indent="-226060">
              <a:lnSpc>
                <a:spcPct val="100000"/>
              </a:lnSpc>
              <a:buAutoNum type="arabicPeriod" startAt="4"/>
              <a:tabLst>
                <a:tab pos="238760" algn="l"/>
              </a:tabLst>
            </a:pP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Objectives</a:t>
            </a:r>
            <a:endParaRPr sz="160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98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Demonstrate full-stack application development using MongoDB, Express.js, React.js, and </a:t>
            </a:r>
            <a:r>
              <a:rPr sz="950" spc="-10" dirty="0">
                <a:latin typeface="Arial"/>
                <a:cs typeface="Arial"/>
              </a:rPr>
              <a:t>Node.js.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Implement Create, Read, Update, and Delete (CRUD) operations for product and farmer </a:t>
            </a:r>
            <a:r>
              <a:rPr sz="950" spc="-10" dirty="0">
                <a:latin typeface="Arial"/>
                <a:cs typeface="Arial"/>
              </a:rPr>
              <a:t>records.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Build</a:t>
            </a:r>
            <a:r>
              <a:rPr sz="950" spc="-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REST</a:t>
            </a:r>
            <a:r>
              <a:rPr sz="950" spc="-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APIs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using</a:t>
            </a:r>
            <a:r>
              <a:rPr sz="950" spc="-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Node.js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-10" dirty="0">
                <a:latin typeface="Arial"/>
                <a:cs typeface="Arial"/>
              </a:rPr>
              <a:t> Express.js.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Develop a responsive and user-friendly interface using </a:t>
            </a:r>
            <a:r>
              <a:rPr sz="950" spc="-10" dirty="0">
                <a:latin typeface="Arial"/>
                <a:cs typeface="Arial"/>
              </a:rPr>
              <a:t>React.js.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Implement authentication and role-based access where </a:t>
            </a:r>
            <a:r>
              <a:rPr sz="950" spc="-10" dirty="0">
                <a:latin typeface="Arial"/>
                <a:cs typeface="Arial"/>
              </a:rPr>
              <a:t>required.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Display product details such as name, category, price, quantity, farmer, and description </a:t>
            </a:r>
            <a:r>
              <a:rPr sz="950" spc="-10" dirty="0">
                <a:latin typeface="Arial"/>
                <a:cs typeface="Arial"/>
              </a:rPr>
              <a:t>clearly.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Validate input and provide useful success or error </a:t>
            </a:r>
            <a:r>
              <a:rPr sz="950" spc="-10" dirty="0">
                <a:latin typeface="Arial"/>
                <a:cs typeface="Arial"/>
              </a:rPr>
              <a:t>messages.</a:t>
            </a:r>
            <a:endParaRPr sz="9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70"/>
              </a:spcBef>
              <a:buFont typeface="Arial"/>
              <a:buChar char="•"/>
            </a:pPr>
            <a:endParaRPr sz="950">
              <a:latin typeface="Arial"/>
              <a:cs typeface="Arial"/>
            </a:endParaRPr>
          </a:p>
          <a:p>
            <a:pPr marL="238760" indent="-226060">
              <a:lnSpc>
                <a:spcPct val="100000"/>
              </a:lnSpc>
              <a:buAutoNum type="arabicPeriod" startAt="4"/>
              <a:tabLst>
                <a:tab pos="238760" algn="l"/>
              </a:tabLst>
            </a:pP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Scope</a:t>
            </a:r>
            <a:r>
              <a:rPr sz="1600" b="1" spc="-5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of</a:t>
            </a: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the</a:t>
            </a:r>
            <a:r>
              <a:rPr sz="1600" b="1" spc="-5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Project</a:t>
            </a:r>
            <a:endParaRPr sz="1600">
              <a:latin typeface="Arial"/>
              <a:cs typeface="Arial"/>
            </a:endParaRPr>
          </a:p>
          <a:p>
            <a:pPr marL="12700" marR="5080" algn="just">
              <a:lnSpc>
                <a:spcPct val="122800"/>
              </a:lnSpc>
              <a:spcBef>
                <a:spcPts val="720"/>
              </a:spcBef>
            </a:pPr>
            <a:r>
              <a:rPr sz="950" dirty="0">
                <a:latin typeface="Arial"/>
                <a:cs typeface="Arial"/>
              </a:rPr>
              <a:t>The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initial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version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focuses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on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managing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farmers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organic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product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listings.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Customers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can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browse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available </a:t>
            </a:r>
            <a:r>
              <a:rPr sz="950" dirty="0">
                <a:latin typeface="Arial"/>
                <a:cs typeface="Arial"/>
              </a:rPr>
              <a:t>products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view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their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details.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Farmers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can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manage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their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own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listings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after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signing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in,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while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administrators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can </a:t>
            </a:r>
            <a:r>
              <a:rPr sz="950" dirty="0">
                <a:latin typeface="Arial"/>
                <a:cs typeface="Arial"/>
              </a:rPr>
              <a:t>manage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users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marketplace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records.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order,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payment,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delivery,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review,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or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certification-verification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system </a:t>
            </a:r>
            <a:r>
              <a:rPr sz="950" dirty="0">
                <a:latin typeface="Arial"/>
                <a:cs typeface="Arial"/>
              </a:rPr>
              <a:t>can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be added as a later enhancement if it is not part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of the current </a:t>
            </a:r>
            <a:r>
              <a:rPr sz="950" spc="-10" dirty="0">
                <a:latin typeface="Arial"/>
                <a:cs typeface="Arial"/>
              </a:rPr>
              <a:t>implementation.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Arial"/>
              <a:cs typeface="Arial"/>
            </a:endParaRPr>
          </a:p>
          <a:p>
            <a:pPr marL="238760" indent="-226060">
              <a:lnSpc>
                <a:spcPct val="100000"/>
              </a:lnSpc>
              <a:buAutoNum type="arabicPeriod" startAt="6"/>
              <a:tabLst>
                <a:tab pos="238760" algn="l"/>
              </a:tabLst>
            </a:pP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Existing</a:t>
            </a:r>
            <a:r>
              <a:rPr sz="1600" b="1" spc="-20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System</a:t>
            </a:r>
            <a:r>
              <a:rPr sz="1600" b="1" spc="-15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and</a:t>
            </a:r>
            <a:r>
              <a:rPr sz="1600" b="1" spc="-15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Proposed</a:t>
            </a:r>
            <a:r>
              <a:rPr sz="1600" b="1" spc="-15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System</a:t>
            </a:r>
            <a:endParaRPr sz="1600">
              <a:latin typeface="Arial"/>
              <a:cs typeface="Arial"/>
            </a:endParaRPr>
          </a:p>
          <a:p>
            <a:pPr marL="12700" marR="5080" algn="just">
              <a:lnSpc>
                <a:spcPct val="122800"/>
              </a:lnSpc>
              <a:spcBef>
                <a:spcPts val="720"/>
              </a:spcBef>
            </a:pPr>
            <a:r>
              <a:rPr sz="950" b="1" dirty="0">
                <a:latin typeface="Arial"/>
                <a:cs typeface="Arial"/>
              </a:rPr>
              <a:t>Existing</a:t>
            </a:r>
            <a:r>
              <a:rPr sz="950" b="1" spc="175" dirty="0">
                <a:latin typeface="Arial"/>
                <a:cs typeface="Arial"/>
              </a:rPr>
              <a:t> </a:t>
            </a:r>
            <a:r>
              <a:rPr sz="950" b="1" dirty="0">
                <a:latin typeface="Arial"/>
                <a:cs typeface="Arial"/>
              </a:rPr>
              <a:t>approach:</a:t>
            </a:r>
            <a:r>
              <a:rPr sz="950" b="1" spc="17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Product</a:t>
            </a:r>
            <a:r>
              <a:rPr sz="950" spc="17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details</a:t>
            </a:r>
            <a:r>
              <a:rPr sz="950" spc="17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may</a:t>
            </a:r>
            <a:r>
              <a:rPr sz="950" spc="17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be</a:t>
            </a:r>
            <a:r>
              <a:rPr sz="950" spc="17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shared</a:t>
            </a:r>
            <a:r>
              <a:rPr sz="950" spc="17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through</a:t>
            </a:r>
            <a:r>
              <a:rPr sz="950" spc="17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phone</a:t>
            </a:r>
            <a:r>
              <a:rPr sz="950" spc="17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calls,</a:t>
            </a:r>
            <a:r>
              <a:rPr sz="950" spc="17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messages,</a:t>
            </a:r>
            <a:r>
              <a:rPr sz="950" spc="17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social</a:t>
            </a:r>
            <a:r>
              <a:rPr sz="950" spc="17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media,</a:t>
            </a:r>
            <a:r>
              <a:rPr sz="950" spc="17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or</a:t>
            </a:r>
            <a:r>
              <a:rPr sz="950" spc="17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local </a:t>
            </a:r>
            <a:r>
              <a:rPr sz="950" dirty="0">
                <a:latin typeface="Arial"/>
                <a:cs typeface="Arial"/>
              </a:rPr>
              <a:t>markets.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Records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can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become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inconsistent,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inventory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may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not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be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updated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promptly,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customers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may</a:t>
            </a:r>
            <a:r>
              <a:rPr sz="950" spc="45" dirty="0">
                <a:latin typeface="Arial"/>
                <a:cs typeface="Arial"/>
              </a:rPr>
              <a:t> </a:t>
            </a:r>
            <a:r>
              <a:rPr sz="950" spc="-20" dirty="0">
                <a:latin typeface="Arial"/>
                <a:cs typeface="Arial"/>
              </a:rPr>
              <a:t>need </a:t>
            </a:r>
            <a:r>
              <a:rPr sz="950" dirty="0">
                <a:latin typeface="Arial"/>
                <a:cs typeface="Arial"/>
              </a:rPr>
              <a:t>to contact sellers to compare </a:t>
            </a:r>
            <a:r>
              <a:rPr sz="950" spc="-10" dirty="0">
                <a:latin typeface="Arial"/>
                <a:cs typeface="Arial"/>
              </a:rPr>
              <a:t>products.</a:t>
            </a:r>
            <a:endParaRPr sz="950">
              <a:latin typeface="Arial"/>
              <a:cs typeface="Arial"/>
            </a:endParaRPr>
          </a:p>
          <a:p>
            <a:pPr marL="12700" marR="5080" algn="just">
              <a:lnSpc>
                <a:spcPct val="122800"/>
              </a:lnSpc>
              <a:spcBef>
                <a:spcPts val="700"/>
              </a:spcBef>
            </a:pPr>
            <a:r>
              <a:rPr sz="950" b="1" dirty="0">
                <a:latin typeface="Arial"/>
                <a:cs typeface="Arial"/>
              </a:rPr>
              <a:t>Proposed</a:t>
            </a:r>
            <a:r>
              <a:rPr sz="950" b="1" spc="20" dirty="0">
                <a:latin typeface="Arial"/>
                <a:cs typeface="Arial"/>
              </a:rPr>
              <a:t> </a:t>
            </a:r>
            <a:r>
              <a:rPr sz="950" b="1" dirty="0">
                <a:latin typeface="Arial"/>
                <a:cs typeface="Arial"/>
              </a:rPr>
              <a:t>approach:</a:t>
            </a:r>
            <a:r>
              <a:rPr sz="950" b="1" spc="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</a:t>
            </a:r>
            <a:r>
              <a:rPr sz="950" spc="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web</a:t>
            </a:r>
            <a:r>
              <a:rPr sz="950" spc="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application</a:t>
            </a:r>
            <a:r>
              <a:rPr sz="950" spc="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stores</a:t>
            </a:r>
            <a:r>
              <a:rPr sz="950" spc="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product</a:t>
            </a:r>
            <a:r>
              <a:rPr sz="950" spc="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data</a:t>
            </a:r>
            <a:r>
              <a:rPr sz="950" spc="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in</a:t>
            </a:r>
            <a:r>
              <a:rPr sz="950" spc="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</a:t>
            </a:r>
            <a:r>
              <a:rPr sz="950" spc="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central</a:t>
            </a:r>
            <a:r>
              <a:rPr sz="950" spc="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database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presents</a:t>
            </a:r>
            <a:r>
              <a:rPr sz="950" spc="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current</a:t>
            </a:r>
            <a:r>
              <a:rPr sz="950" spc="2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listings </a:t>
            </a:r>
            <a:r>
              <a:rPr sz="950" dirty="0">
                <a:latin typeface="Arial"/>
                <a:cs typeface="Arial"/>
              </a:rPr>
              <a:t>through</a:t>
            </a:r>
            <a:r>
              <a:rPr sz="950" spc="1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</a:t>
            </a:r>
            <a:r>
              <a:rPr sz="950" spc="1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searchable</a:t>
            </a:r>
            <a:r>
              <a:rPr sz="950" spc="1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interface.</a:t>
            </a:r>
            <a:r>
              <a:rPr sz="950" spc="1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Authorized</a:t>
            </a:r>
            <a:r>
              <a:rPr sz="950" spc="1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users</a:t>
            </a:r>
            <a:r>
              <a:rPr sz="950" spc="1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can</a:t>
            </a:r>
            <a:r>
              <a:rPr sz="950" spc="1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manage</a:t>
            </a:r>
            <a:r>
              <a:rPr sz="950" spc="1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records</a:t>
            </a:r>
            <a:r>
              <a:rPr sz="950" spc="1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through</a:t>
            </a:r>
            <a:r>
              <a:rPr sz="950" spc="1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defined</a:t>
            </a:r>
            <a:r>
              <a:rPr sz="950" spc="1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APIs.</a:t>
            </a:r>
            <a:r>
              <a:rPr sz="950" spc="14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This</a:t>
            </a:r>
            <a:r>
              <a:rPr sz="950" spc="150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improves</a:t>
            </a:r>
            <a:endParaRPr sz="9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Organic</a:t>
            </a:r>
            <a:r>
              <a:rPr spc="-25" dirty="0"/>
              <a:t> </a:t>
            </a:r>
            <a:r>
              <a:rPr dirty="0"/>
              <a:t>Farming</a:t>
            </a:r>
            <a:r>
              <a:rPr spc="-20" dirty="0"/>
              <a:t> </a:t>
            </a:r>
            <a:r>
              <a:rPr dirty="0"/>
              <a:t>Marketplace</a:t>
            </a:r>
            <a:r>
              <a:rPr spc="-2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MERN</a:t>
            </a:r>
            <a:r>
              <a:rPr spc="-20" dirty="0"/>
              <a:t> </a:t>
            </a:r>
            <a:r>
              <a:rPr dirty="0"/>
              <a:t>Stack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10" dirty="0"/>
              <a:t>Report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499" y="678480"/>
            <a:ext cx="5993765" cy="4279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800"/>
              </a:lnSpc>
              <a:spcBef>
                <a:spcPts val="100"/>
              </a:spcBef>
            </a:pPr>
            <a:r>
              <a:rPr sz="950" dirty="0">
                <a:latin typeface="Arial"/>
                <a:cs typeface="Arial"/>
              </a:rPr>
              <a:t>organization</a:t>
            </a:r>
            <a:r>
              <a:rPr sz="950" spc="1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1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makes</a:t>
            </a:r>
            <a:r>
              <a:rPr sz="950" spc="1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product</a:t>
            </a:r>
            <a:r>
              <a:rPr sz="950" spc="1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information</a:t>
            </a:r>
            <a:r>
              <a:rPr sz="950" spc="1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easier</a:t>
            </a:r>
            <a:r>
              <a:rPr sz="950" spc="1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to</a:t>
            </a:r>
            <a:r>
              <a:rPr sz="950" spc="1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browse,</a:t>
            </a:r>
            <a:r>
              <a:rPr sz="950" spc="1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although</a:t>
            </a:r>
            <a:r>
              <a:rPr sz="950" spc="1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product</a:t>
            </a:r>
            <a:r>
              <a:rPr sz="950" spc="1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claims</a:t>
            </a:r>
            <a:r>
              <a:rPr sz="950" spc="1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still</a:t>
            </a:r>
            <a:r>
              <a:rPr sz="950" spc="12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need</a:t>
            </a:r>
            <a:r>
              <a:rPr sz="950" spc="12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appropriate verification.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Arial"/>
              <a:cs typeface="Arial"/>
            </a:endParaRPr>
          </a:p>
          <a:p>
            <a:pPr marL="238760" indent="-226060">
              <a:lnSpc>
                <a:spcPct val="100000"/>
              </a:lnSpc>
              <a:buAutoNum type="arabicPeriod" startAt="7"/>
              <a:tabLst>
                <a:tab pos="238760" algn="l"/>
              </a:tabLst>
            </a:pP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Functional and Non-Functional </a:t>
            </a: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Requirements</a:t>
            </a:r>
            <a:endParaRPr sz="1600">
              <a:latin typeface="Arial"/>
              <a:cs typeface="Arial"/>
            </a:endParaRPr>
          </a:p>
          <a:p>
            <a:pPr marL="267335" lvl="1" indent="-254635">
              <a:lnSpc>
                <a:spcPct val="100000"/>
              </a:lnSpc>
              <a:spcBef>
                <a:spcPts val="980"/>
              </a:spcBef>
              <a:buAutoNum type="arabicPeriod"/>
              <a:tabLst>
                <a:tab pos="267335" algn="l"/>
              </a:tabLst>
            </a:pPr>
            <a:r>
              <a:rPr sz="1200" b="1" dirty="0">
                <a:solidFill>
                  <a:srgbClr val="38724F"/>
                </a:solidFill>
                <a:latin typeface="Arial"/>
                <a:cs typeface="Arial"/>
              </a:rPr>
              <a:t>Functional</a:t>
            </a:r>
            <a:r>
              <a:rPr sz="1200" b="1" spc="-65" dirty="0">
                <a:solidFill>
                  <a:srgbClr val="38724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38724F"/>
                </a:solidFill>
                <a:latin typeface="Arial"/>
                <a:cs typeface="Arial"/>
              </a:rPr>
              <a:t>requirements</a:t>
            </a:r>
            <a:endParaRPr sz="1200">
              <a:latin typeface="Arial"/>
              <a:cs typeface="Arial"/>
            </a:endParaRPr>
          </a:p>
          <a:p>
            <a:pPr marL="164465" lvl="2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User registration and login with secure password </a:t>
            </a:r>
            <a:r>
              <a:rPr sz="950" spc="-10" dirty="0">
                <a:latin typeface="Arial"/>
                <a:cs typeface="Arial"/>
              </a:rPr>
              <a:t>handling.</a:t>
            </a:r>
            <a:endParaRPr sz="950">
              <a:latin typeface="Arial"/>
              <a:cs typeface="Arial"/>
            </a:endParaRPr>
          </a:p>
          <a:p>
            <a:pPr marL="164465" lvl="2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Create, view, edit, and remove product listings according to user </a:t>
            </a:r>
            <a:r>
              <a:rPr sz="950" spc="-10" dirty="0">
                <a:latin typeface="Arial"/>
                <a:cs typeface="Arial"/>
              </a:rPr>
              <a:t>permissions.</a:t>
            </a:r>
            <a:endParaRPr sz="950">
              <a:latin typeface="Arial"/>
              <a:cs typeface="Arial"/>
            </a:endParaRPr>
          </a:p>
          <a:p>
            <a:pPr marL="164465" lvl="2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Store farmer profiles and associate each product with its </a:t>
            </a:r>
            <a:r>
              <a:rPr sz="950" spc="-10" dirty="0">
                <a:latin typeface="Arial"/>
                <a:cs typeface="Arial"/>
              </a:rPr>
              <a:t>farmer.</a:t>
            </a:r>
            <a:endParaRPr sz="950">
              <a:latin typeface="Arial"/>
              <a:cs typeface="Arial"/>
            </a:endParaRPr>
          </a:p>
          <a:p>
            <a:pPr marL="164465" lvl="2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Maintain product price, available quantity, category, description, and image </a:t>
            </a:r>
            <a:r>
              <a:rPr sz="950" spc="-20" dirty="0">
                <a:latin typeface="Arial"/>
                <a:cs typeface="Arial"/>
              </a:rPr>
              <a:t>URL.</a:t>
            </a:r>
            <a:endParaRPr sz="950">
              <a:latin typeface="Arial"/>
              <a:cs typeface="Arial"/>
            </a:endParaRPr>
          </a:p>
          <a:p>
            <a:pPr marL="164465" lvl="2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Browse products and optionally filter by category or search by </a:t>
            </a:r>
            <a:r>
              <a:rPr sz="950" spc="-10" dirty="0">
                <a:latin typeface="Arial"/>
                <a:cs typeface="Arial"/>
              </a:rPr>
              <a:t>name.</a:t>
            </a:r>
            <a:endParaRPr sz="950">
              <a:latin typeface="Arial"/>
              <a:cs typeface="Arial"/>
            </a:endParaRPr>
          </a:p>
          <a:p>
            <a:pPr marL="164465" lvl="2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Validate required fields and reject invalid prices or negative </a:t>
            </a:r>
            <a:r>
              <a:rPr sz="950" spc="-10" dirty="0">
                <a:latin typeface="Arial"/>
                <a:cs typeface="Arial"/>
              </a:rPr>
              <a:t>quantities.</a:t>
            </a:r>
            <a:endParaRPr sz="950">
              <a:latin typeface="Arial"/>
              <a:cs typeface="Arial"/>
            </a:endParaRPr>
          </a:p>
          <a:p>
            <a:pPr marL="164465" lvl="2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Provide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clear API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responses for successful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operations and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errors.</a:t>
            </a:r>
            <a:endParaRPr sz="950">
              <a:latin typeface="Arial"/>
              <a:cs typeface="Arial"/>
            </a:endParaRPr>
          </a:p>
          <a:p>
            <a:pPr marL="267335" lvl="1" indent="-254635">
              <a:lnSpc>
                <a:spcPct val="100000"/>
              </a:lnSpc>
              <a:spcBef>
                <a:spcPts val="860"/>
              </a:spcBef>
              <a:buAutoNum type="arabicPeriod"/>
              <a:tabLst>
                <a:tab pos="267335" algn="l"/>
              </a:tabLst>
            </a:pPr>
            <a:r>
              <a:rPr sz="1200" b="1" spc="-10" dirty="0">
                <a:solidFill>
                  <a:srgbClr val="38724F"/>
                </a:solidFill>
                <a:latin typeface="Arial"/>
                <a:cs typeface="Arial"/>
              </a:rPr>
              <a:t>Non-</a:t>
            </a:r>
            <a:r>
              <a:rPr sz="1200" b="1" dirty="0">
                <a:solidFill>
                  <a:srgbClr val="38724F"/>
                </a:solidFill>
                <a:latin typeface="Arial"/>
                <a:cs typeface="Arial"/>
              </a:rPr>
              <a:t>functional</a:t>
            </a:r>
            <a:r>
              <a:rPr sz="1200" b="1" spc="-45" dirty="0">
                <a:solidFill>
                  <a:srgbClr val="38724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38724F"/>
                </a:solidFill>
                <a:latin typeface="Arial"/>
                <a:cs typeface="Arial"/>
              </a:rPr>
              <a:t>requirements</a:t>
            </a:r>
            <a:endParaRPr sz="1200">
              <a:latin typeface="Arial"/>
              <a:cs typeface="Arial"/>
            </a:endParaRPr>
          </a:p>
          <a:p>
            <a:pPr marL="164465" lvl="2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Usability: simple navigation and readable product </a:t>
            </a:r>
            <a:r>
              <a:rPr sz="950" spc="-10" dirty="0">
                <a:latin typeface="Arial"/>
                <a:cs typeface="Arial"/>
              </a:rPr>
              <a:t>information.</a:t>
            </a:r>
            <a:endParaRPr sz="950">
              <a:latin typeface="Arial"/>
              <a:cs typeface="Arial"/>
            </a:endParaRPr>
          </a:p>
          <a:p>
            <a:pPr marL="164465" lvl="2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Security: password hashing, authorization checks, and input </a:t>
            </a:r>
            <a:r>
              <a:rPr sz="950" spc="-10" dirty="0">
                <a:latin typeface="Arial"/>
                <a:cs typeface="Arial"/>
              </a:rPr>
              <a:t>validation.</a:t>
            </a:r>
            <a:endParaRPr sz="950">
              <a:latin typeface="Arial"/>
              <a:cs typeface="Arial"/>
            </a:endParaRPr>
          </a:p>
          <a:p>
            <a:pPr marL="164465" lvl="2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Reliability: consistent data handling and meaningful error </a:t>
            </a:r>
            <a:r>
              <a:rPr sz="950" spc="-10" dirty="0">
                <a:latin typeface="Arial"/>
                <a:cs typeface="Arial"/>
              </a:rPr>
              <a:t>responses.</a:t>
            </a:r>
            <a:endParaRPr sz="950">
              <a:latin typeface="Arial"/>
              <a:cs typeface="Arial"/>
            </a:endParaRPr>
          </a:p>
          <a:p>
            <a:pPr marL="164465" lvl="2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Performance: suitable database queries and pagination as the catalogue </a:t>
            </a:r>
            <a:r>
              <a:rPr sz="950" spc="-10" dirty="0">
                <a:latin typeface="Arial"/>
                <a:cs typeface="Arial"/>
              </a:rPr>
              <a:t>grows.</a:t>
            </a:r>
            <a:endParaRPr sz="950">
              <a:latin typeface="Arial"/>
              <a:cs typeface="Arial"/>
            </a:endParaRPr>
          </a:p>
          <a:p>
            <a:pPr marL="164465" lvl="2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Maintainability: modular frontend components and backend </a:t>
            </a:r>
            <a:r>
              <a:rPr sz="950" spc="-10" dirty="0">
                <a:latin typeface="Arial"/>
                <a:cs typeface="Arial"/>
              </a:rPr>
              <a:t>routes/controllers.</a:t>
            </a:r>
            <a:endParaRPr sz="9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3499" y="5080300"/>
            <a:ext cx="19907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8.</a:t>
            </a: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Technology</a:t>
            </a:r>
            <a:r>
              <a:rPr sz="1600" b="1" spc="-5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Stack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95459" y="5458760"/>
          <a:ext cx="5445760" cy="20440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7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Technology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23573B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Purpose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235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MongoDB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Document</a:t>
                      </a:r>
                      <a:r>
                        <a:rPr sz="8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database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users,</a:t>
                      </a:r>
                      <a:r>
                        <a:rPr sz="8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farmers,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products,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optionally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orders.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Express.js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Backend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framework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routing,</a:t>
                      </a:r>
                      <a:r>
                        <a:rPr sz="8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middleware,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REST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API</a:t>
                      </a:r>
                      <a:r>
                        <a:rPr sz="8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endpoints.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React.js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Frontend</a:t>
                      </a:r>
                      <a:r>
                        <a:rPr sz="8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components,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forms,</a:t>
                      </a:r>
                      <a:r>
                        <a:rPr sz="8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product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cards,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page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navigation.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Node.js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JavaScript</a:t>
                      </a:r>
                      <a:r>
                        <a:rPr sz="8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runtime</a:t>
                      </a:r>
                      <a:r>
                        <a:rPr sz="8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executing</a:t>
                      </a:r>
                      <a:r>
                        <a:rPr sz="8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backend</a:t>
                      </a:r>
                      <a:r>
                        <a:rPr sz="8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server.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Mongoose</a:t>
                      </a:r>
                      <a:r>
                        <a:rPr sz="800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(optional)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Schemas,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validation,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convenient</a:t>
                      </a:r>
                      <a:r>
                        <a:rPr sz="8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MongoDB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access.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JWT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session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(optional)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Authentication</a:t>
                      </a:r>
                      <a:r>
                        <a:rPr sz="8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mechanism</a:t>
                      </a:r>
                      <a:r>
                        <a:rPr sz="8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8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protected</a:t>
                      </a:r>
                      <a:r>
                        <a:rPr sz="8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routes.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83499" y="7721900"/>
            <a:ext cx="5993765" cy="203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00"/>
              </a:spcBef>
              <a:buAutoNum type="arabicPeriod" startAt="9"/>
              <a:tabLst>
                <a:tab pos="238760" algn="l"/>
              </a:tabLst>
            </a:pP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System </a:t>
            </a: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Architecture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950" dirty="0">
                <a:latin typeface="Arial"/>
                <a:cs typeface="Arial"/>
              </a:rPr>
              <a:t>The application follows a three-layer client-server </a:t>
            </a:r>
            <a:r>
              <a:rPr sz="950" spc="-10" dirty="0">
                <a:latin typeface="Arial"/>
                <a:cs typeface="Arial"/>
              </a:rPr>
              <a:t>architecture: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164465" algn="l"/>
              </a:tabLst>
            </a:pPr>
            <a:r>
              <a:rPr sz="950" b="1" dirty="0">
                <a:latin typeface="Arial"/>
                <a:cs typeface="Arial"/>
              </a:rPr>
              <a:t>Presentation layer: </a:t>
            </a:r>
            <a:r>
              <a:rPr sz="950" dirty="0">
                <a:latin typeface="Arial"/>
                <a:cs typeface="Arial"/>
              </a:rPr>
              <a:t>React.js pages display the catalogue, forms, login page, and </a:t>
            </a:r>
            <a:r>
              <a:rPr sz="950" spc="-10" dirty="0">
                <a:latin typeface="Arial"/>
                <a:cs typeface="Arial"/>
              </a:rPr>
              <a:t>dashboard.</a:t>
            </a:r>
            <a:endParaRPr sz="950">
              <a:latin typeface="Arial"/>
              <a:cs typeface="Arial"/>
            </a:endParaRPr>
          </a:p>
          <a:p>
            <a:pPr marL="164465" marR="267970" lvl="1" indent="-75565">
              <a:lnSpc>
                <a:spcPct val="113999"/>
              </a:lnSpc>
              <a:spcBef>
                <a:spcPts val="600"/>
              </a:spcBef>
              <a:buFont typeface="Arial"/>
              <a:buChar char="•"/>
              <a:tabLst>
                <a:tab pos="190500" algn="l"/>
              </a:tabLst>
            </a:pPr>
            <a:r>
              <a:rPr sz="950" b="1" dirty="0">
                <a:latin typeface="Arial"/>
                <a:cs typeface="Arial"/>
              </a:rPr>
              <a:t>API</a:t>
            </a:r>
            <a:r>
              <a:rPr sz="950" b="1" spc="-5" dirty="0">
                <a:latin typeface="Arial"/>
                <a:cs typeface="Arial"/>
              </a:rPr>
              <a:t> </a:t>
            </a:r>
            <a:r>
              <a:rPr sz="950" b="1" dirty="0">
                <a:latin typeface="Arial"/>
                <a:cs typeface="Arial"/>
              </a:rPr>
              <a:t>layer: </a:t>
            </a:r>
            <a:r>
              <a:rPr sz="950" dirty="0">
                <a:latin typeface="Arial"/>
                <a:cs typeface="Arial"/>
              </a:rPr>
              <a:t>Express.js routes receive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HTTP requests, validate input,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apply authorization rules, and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return 	</a:t>
            </a:r>
            <a:r>
              <a:rPr sz="950" dirty="0">
                <a:latin typeface="Arial"/>
                <a:cs typeface="Arial"/>
              </a:rPr>
              <a:t>JSON</a:t>
            </a:r>
            <a:r>
              <a:rPr sz="950" spc="-30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responses.</a:t>
            </a:r>
            <a:endParaRPr sz="950">
              <a:latin typeface="Arial"/>
              <a:cs typeface="Arial"/>
            </a:endParaRPr>
          </a:p>
          <a:p>
            <a:pPr marL="164465" marR="334645" lvl="1" indent="-75565">
              <a:lnSpc>
                <a:spcPct val="113999"/>
              </a:lnSpc>
              <a:spcBef>
                <a:spcPts val="600"/>
              </a:spcBef>
              <a:buFont typeface="Arial"/>
              <a:buChar char="•"/>
              <a:tabLst>
                <a:tab pos="190500" algn="l"/>
              </a:tabLst>
            </a:pPr>
            <a:r>
              <a:rPr sz="950" b="1" dirty="0">
                <a:latin typeface="Arial"/>
                <a:cs typeface="Arial"/>
              </a:rPr>
              <a:t>Data layer: </a:t>
            </a:r>
            <a:r>
              <a:rPr sz="950" dirty="0">
                <a:latin typeface="Arial"/>
                <a:cs typeface="Arial"/>
              </a:rPr>
              <a:t>MongoDB stores records. The backend reads and writes data through a database driver </a:t>
            </a:r>
            <a:r>
              <a:rPr sz="950" spc="-25" dirty="0">
                <a:latin typeface="Arial"/>
                <a:cs typeface="Arial"/>
              </a:rPr>
              <a:t>or 	</a:t>
            </a:r>
            <a:r>
              <a:rPr sz="950" dirty="0">
                <a:latin typeface="Arial"/>
                <a:cs typeface="Arial"/>
              </a:rPr>
              <a:t>Mongoose </a:t>
            </a:r>
            <a:r>
              <a:rPr sz="950" spc="-10" dirty="0">
                <a:latin typeface="Arial"/>
                <a:cs typeface="Arial"/>
              </a:rPr>
              <a:t>models.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950" dirty="0">
                <a:latin typeface="Arial"/>
                <a:cs typeface="Arial"/>
              </a:rPr>
              <a:t>Typical</a:t>
            </a:r>
            <a:r>
              <a:rPr sz="950" spc="6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request</a:t>
            </a:r>
            <a:r>
              <a:rPr sz="950" spc="6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flow:</a:t>
            </a:r>
            <a:r>
              <a:rPr sz="950" spc="6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User</a:t>
            </a:r>
            <a:r>
              <a:rPr sz="950" spc="6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interface</a:t>
            </a:r>
            <a:r>
              <a:rPr sz="950" spc="60" dirty="0">
                <a:latin typeface="Arial"/>
                <a:cs typeface="Arial"/>
              </a:rPr>
              <a:t> </a:t>
            </a:r>
            <a:r>
              <a:rPr sz="950" dirty="0">
                <a:latin typeface="Symbol"/>
                <a:cs typeface="Symbol"/>
              </a:rPr>
              <a:t></a:t>
            </a:r>
            <a:r>
              <a:rPr sz="950" spc="8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Arial"/>
                <a:cs typeface="Arial"/>
              </a:rPr>
              <a:t>HTTP</a:t>
            </a:r>
            <a:r>
              <a:rPr sz="950" spc="6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request</a:t>
            </a:r>
            <a:r>
              <a:rPr sz="950" spc="6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(fetch/Axios)</a:t>
            </a:r>
            <a:r>
              <a:rPr sz="950" spc="60" dirty="0">
                <a:latin typeface="Arial"/>
                <a:cs typeface="Arial"/>
              </a:rPr>
              <a:t> </a:t>
            </a:r>
            <a:r>
              <a:rPr sz="950" dirty="0">
                <a:latin typeface="Symbol"/>
                <a:cs typeface="Symbol"/>
              </a:rPr>
              <a:t></a:t>
            </a:r>
            <a:r>
              <a:rPr sz="950" spc="8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Arial"/>
                <a:cs typeface="Arial"/>
              </a:rPr>
              <a:t>Express</a:t>
            </a:r>
            <a:r>
              <a:rPr sz="950" spc="6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route/controller</a:t>
            </a:r>
            <a:r>
              <a:rPr sz="950" spc="60" dirty="0">
                <a:latin typeface="Arial"/>
                <a:cs typeface="Arial"/>
              </a:rPr>
              <a:t> </a:t>
            </a:r>
            <a:r>
              <a:rPr sz="950" dirty="0">
                <a:latin typeface="Symbol"/>
                <a:cs typeface="Symbol"/>
              </a:rPr>
              <a:t></a:t>
            </a:r>
            <a:r>
              <a:rPr sz="950" spc="8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Arial"/>
                <a:cs typeface="Arial"/>
              </a:rPr>
              <a:t>MongoDB</a:t>
            </a:r>
            <a:r>
              <a:rPr sz="950" spc="60" dirty="0">
                <a:latin typeface="Arial"/>
                <a:cs typeface="Arial"/>
              </a:rPr>
              <a:t> </a:t>
            </a:r>
            <a:r>
              <a:rPr sz="950" spc="-50" dirty="0">
                <a:latin typeface="Symbol"/>
                <a:cs typeface="Symbol"/>
              </a:rPr>
              <a:t></a:t>
            </a:r>
            <a:endParaRPr sz="95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950" dirty="0">
                <a:latin typeface="Arial"/>
                <a:cs typeface="Arial"/>
              </a:rPr>
              <a:t>JSON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response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Symbol"/>
                <a:cs typeface="Symbol"/>
              </a:rPr>
              <a:t></a:t>
            </a:r>
            <a:r>
              <a:rPr sz="950" spc="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Arial"/>
                <a:cs typeface="Arial"/>
              </a:rPr>
              <a:t>React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updates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page.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Organic</a:t>
            </a:r>
            <a:r>
              <a:rPr spc="-25" dirty="0"/>
              <a:t> </a:t>
            </a:r>
            <a:r>
              <a:rPr dirty="0"/>
              <a:t>Farming</a:t>
            </a:r>
            <a:r>
              <a:rPr spc="-20" dirty="0"/>
              <a:t> </a:t>
            </a:r>
            <a:r>
              <a:rPr dirty="0"/>
              <a:t>Marketplace</a:t>
            </a:r>
            <a:r>
              <a:rPr spc="-2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MERN</a:t>
            </a:r>
            <a:r>
              <a:rPr spc="-20" dirty="0"/>
              <a:t> </a:t>
            </a:r>
            <a:r>
              <a:rPr dirty="0"/>
              <a:t>Stack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10" dirty="0"/>
              <a:t>Report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499" y="711500"/>
            <a:ext cx="5344160" cy="538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10.</a:t>
            </a:r>
            <a:r>
              <a:rPr sz="1600" b="1" spc="-15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Database</a:t>
            </a: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 Design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950" dirty="0">
                <a:latin typeface="Arial"/>
                <a:cs typeface="Arial"/>
              </a:rPr>
              <a:t>The following collections are a suggested schema. Fields can be adjusted to match the actual </a:t>
            </a:r>
            <a:r>
              <a:rPr sz="950" spc="-10" dirty="0">
                <a:latin typeface="Arial"/>
                <a:cs typeface="Arial"/>
              </a:rPr>
              <a:t>code.</a:t>
            </a:r>
            <a:endParaRPr sz="95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95459" y="1356660"/>
          <a:ext cx="5445760" cy="187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Collection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23573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Example</a:t>
                      </a:r>
                      <a:r>
                        <a:rPr sz="800" b="1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fields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23573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Purpose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235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users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_id,</a:t>
                      </a:r>
                      <a:r>
                        <a:rPr sz="8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name,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email,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passwordHash,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role,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createdAt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Login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identity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permissions.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farmers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511809">
                        <a:lnSpc>
                          <a:spcPct val="114599"/>
                        </a:lnSpc>
                        <a:spcBef>
                          <a:spcPts val="489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_id,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userId,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farmName,</a:t>
                      </a:r>
                      <a:r>
                        <a:rPr sz="8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location,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contactInfo, description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2229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Farmer</a:t>
                      </a:r>
                      <a:r>
                        <a:rPr sz="8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profile</a:t>
                      </a:r>
                      <a:r>
                        <a:rPr sz="8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details.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products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113030">
                        <a:lnSpc>
                          <a:spcPct val="114599"/>
                        </a:lnSpc>
                        <a:spcBef>
                          <a:spcPts val="489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_id,</a:t>
                      </a:r>
                      <a:r>
                        <a:rPr sz="8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name,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category,</a:t>
                      </a:r>
                      <a:r>
                        <a:rPr sz="8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description,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price,</a:t>
                      </a:r>
                      <a:r>
                        <a:rPr sz="8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quantity,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unit,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farmerId,</a:t>
                      </a:r>
                      <a:r>
                        <a:rPr sz="8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imageUrl,</a:t>
                      </a:r>
                      <a:r>
                        <a:rPr sz="8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createdAt,</a:t>
                      </a:r>
                      <a:r>
                        <a:rPr sz="8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updatedAt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2229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300990">
                        <a:lnSpc>
                          <a:spcPct val="114599"/>
                        </a:lnSpc>
                        <a:spcBef>
                          <a:spcPts val="489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Organic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product</a:t>
                      </a:r>
                      <a:r>
                        <a:rPr sz="8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listings</a:t>
                      </a:r>
                      <a:r>
                        <a:rPr sz="8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inventory.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2229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orders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(optional)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_id,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customerId,</a:t>
                      </a:r>
                      <a:r>
                        <a:rPr sz="8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items,</a:t>
                      </a:r>
                      <a:r>
                        <a:rPr sz="8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total,</a:t>
                      </a:r>
                      <a:r>
                        <a:rPr sz="8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status,</a:t>
                      </a:r>
                      <a:r>
                        <a:rPr sz="8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createdAt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266065">
                        <a:lnSpc>
                          <a:spcPct val="114599"/>
                        </a:lnSpc>
                        <a:spcBef>
                          <a:spcPts val="489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Order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history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if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purchasing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implemented.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2229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83499" y="3370880"/>
            <a:ext cx="5993765" cy="302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800"/>
              </a:lnSpc>
              <a:spcBef>
                <a:spcPts val="100"/>
              </a:spcBef>
            </a:pPr>
            <a:r>
              <a:rPr sz="950" dirty="0">
                <a:latin typeface="Arial"/>
                <a:cs typeface="Arial"/>
              </a:rPr>
              <a:t>A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product</a:t>
            </a:r>
            <a:r>
              <a:rPr sz="950" spc="10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should</a:t>
            </a:r>
            <a:r>
              <a:rPr sz="950" spc="10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reference</a:t>
            </a:r>
            <a:r>
              <a:rPr sz="950" spc="10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its</a:t>
            </a:r>
            <a:r>
              <a:rPr sz="950" spc="10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farmer</a:t>
            </a:r>
            <a:r>
              <a:rPr sz="950" spc="10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using</a:t>
            </a:r>
            <a:r>
              <a:rPr sz="950" spc="10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farmerId.</a:t>
            </a:r>
            <a:r>
              <a:rPr sz="950" spc="10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Prices</a:t>
            </a:r>
            <a:r>
              <a:rPr sz="950" spc="10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should</a:t>
            </a:r>
            <a:r>
              <a:rPr sz="950" spc="10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be</a:t>
            </a:r>
            <a:r>
              <a:rPr sz="950" spc="10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numeric</a:t>
            </a:r>
            <a:r>
              <a:rPr sz="950" spc="10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10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greater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than</a:t>
            </a:r>
            <a:r>
              <a:rPr sz="950" spc="10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or</a:t>
            </a:r>
            <a:r>
              <a:rPr sz="950" spc="10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equal</a:t>
            </a:r>
            <a:r>
              <a:rPr sz="950" spc="105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to </a:t>
            </a:r>
            <a:r>
              <a:rPr sz="950" dirty="0">
                <a:latin typeface="Arial"/>
                <a:cs typeface="Arial"/>
              </a:rPr>
              <a:t>zero; quantity should be non-negative. Validate data on the backend even when the frontend also validates </a:t>
            </a:r>
            <a:r>
              <a:rPr sz="950" spc="-25" dirty="0">
                <a:latin typeface="Arial"/>
                <a:cs typeface="Arial"/>
              </a:rPr>
              <a:t>it.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Arial"/>
              <a:cs typeface="Arial"/>
            </a:endParaRPr>
          </a:p>
          <a:p>
            <a:pPr marL="351790" indent="-339090">
              <a:lnSpc>
                <a:spcPct val="100000"/>
              </a:lnSpc>
              <a:buAutoNum type="arabicPeriod" startAt="11"/>
              <a:tabLst>
                <a:tab pos="351790" algn="l"/>
              </a:tabLst>
            </a:pP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Module</a:t>
            </a:r>
            <a:r>
              <a:rPr sz="1600" b="1" spc="-60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Description</a:t>
            </a:r>
            <a:endParaRPr sz="160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980"/>
              </a:spcBef>
              <a:buFont typeface="Arial"/>
              <a:buChar char="•"/>
              <a:tabLst>
                <a:tab pos="164465" algn="l"/>
              </a:tabLst>
            </a:pPr>
            <a:r>
              <a:rPr sz="950" b="1" dirty="0">
                <a:latin typeface="Arial"/>
                <a:cs typeface="Arial"/>
              </a:rPr>
              <a:t>Authentication module: </a:t>
            </a:r>
            <a:r>
              <a:rPr sz="950" dirty="0">
                <a:latin typeface="Arial"/>
                <a:cs typeface="Arial"/>
              </a:rPr>
              <a:t>registration, login, password hashing, and access-token or session </a:t>
            </a:r>
            <a:r>
              <a:rPr sz="950" spc="-10" dirty="0">
                <a:latin typeface="Arial"/>
                <a:cs typeface="Arial"/>
              </a:rPr>
              <a:t>handling.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164465" algn="l"/>
              </a:tabLst>
            </a:pPr>
            <a:r>
              <a:rPr sz="950" b="1" dirty="0">
                <a:latin typeface="Arial"/>
                <a:cs typeface="Arial"/>
              </a:rPr>
              <a:t>Farmer</a:t>
            </a:r>
            <a:r>
              <a:rPr sz="950" b="1" spc="-5" dirty="0">
                <a:latin typeface="Arial"/>
                <a:cs typeface="Arial"/>
              </a:rPr>
              <a:t> </a:t>
            </a:r>
            <a:r>
              <a:rPr sz="950" b="1" dirty="0">
                <a:latin typeface="Arial"/>
                <a:cs typeface="Arial"/>
              </a:rPr>
              <a:t>module:</a:t>
            </a:r>
            <a:r>
              <a:rPr sz="950" b="1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create and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update farmer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profiles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 view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associated product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listings.</a:t>
            </a:r>
            <a:endParaRPr sz="950">
              <a:latin typeface="Arial"/>
              <a:cs typeface="Arial"/>
            </a:endParaRPr>
          </a:p>
          <a:p>
            <a:pPr marL="164465" marR="355600" lvl="1" indent="-75565">
              <a:lnSpc>
                <a:spcPct val="113999"/>
              </a:lnSpc>
              <a:spcBef>
                <a:spcPts val="600"/>
              </a:spcBef>
              <a:buFont typeface="Arial"/>
              <a:buChar char="•"/>
              <a:tabLst>
                <a:tab pos="190500" algn="l"/>
              </a:tabLst>
            </a:pPr>
            <a:r>
              <a:rPr sz="950" b="1" dirty="0">
                <a:latin typeface="Arial"/>
                <a:cs typeface="Arial"/>
              </a:rPr>
              <a:t>Product module: </a:t>
            </a:r>
            <a:r>
              <a:rPr sz="950" dirty="0">
                <a:latin typeface="Arial"/>
                <a:cs typeface="Arial"/>
              </a:rPr>
              <a:t>create listings, view product details, update price or quantity, and delete listings </a:t>
            </a:r>
            <a:r>
              <a:rPr sz="950" spc="-20" dirty="0">
                <a:latin typeface="Arial"/>
                <a:cs typeface="Arial"/>
              </a:rPr>
              <a:t>with 	</a:t>
            </a:r>
            <a:r>
              <a:rPr sz="950" spc="-10" dirty="0">
                <a:latin typeface="Arial"/>
                <a:cs typeface="Arial"/>
              </a:rPr>
              <a:t>permission.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164465" algn="l"/>
              </a:tabLst>
            </a:pPr>
            <a:r>
              <a:rPr sz="950" b="1" dirty="0">
                <a:latin typeface="Arial"/>
                <a:cs typeface="Arial"/>
              </a:rPr>
              <a:t>Marketplace module: </a:t>
            </a:r>
            <a:r>
              <a:rPr sz="950" dirty="0">
                <a:latin typeface="Arial"/>
                <a:cs typeface="Arial"/>
              </a:rPr>
              <a:t>show product cards, search or filter the catalogue, and display </a:t>
            </a:r>
            <a:r>
              <a:rPr sz="950" spc="-10" dirty="0">
                <a:latin typeface="Arial"/>
                <a:cs typeface="Arial"/>
              </a:rPr>
              <a:t>availability.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164465" algn="l"/>
              </a:tabLst>
            </a:pPr>
            <a:r>
              <a:rPr sz="950" b="1" dirty="0">
                <a:latin typeface="Arial"/>
                <a:cs typeface="Arial"/>
              </a:rPr>
              <a:t>Admin</a:t>
            </a:r>
            <a:r>
              <a:rPr sz="950" b="1" spc="-5" dirty="0">
                <a:latin typeface="Arial"/>
                <a:cs typeface="Arial"/>
              </a:rPr>
              <a:t> </a:t>
            </a:r>
            <a:r>
              <a:rPr sz="950" b="1" dirty="0">
                <a:latin typeface="Arial"/>
                <a:cs typeface="Arial"/>
              </a:rPr>
              <a:t>module: </a:t>
            </a:r>
            <a:r>
              <a:rPr sz="950" dirty="0">
                <a:latin typeface="Arial"/>
                <a:cs typeface="Arial"/>
              </a:rPr>
              <a:t>manage users and moderate listings if an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administrator role is </a:t>
            </a:r>
            <a:r>
              <a:rPr sz="950" spc="-10" dirty="0">
                <a:latin typeface="Arial"/>
                <a:cs typeface="Arial"/>
              </a:rPr>
              <a:t>included.</a:t>
            </a:r>
            <a:endParaRPr sz="9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70"/>
              </a:spcBef>
              <a:buFont typeface="Arial"/>
              <a:buChar char="•"/>
            </a:pPr>
            <a:endParaRPr sz="950">
              <a:latin typeface="Arial"/>
              <a:cs typeface="Arial"/>
            </a:endParaRPr>
          </a:p>
          <a:p>
            <a:pPr marL="351790" indent="-339090">
              <a:lnSpc>
                <a:spcPct val="100000"/>
              </a:lnSpc>
              <a:buAutoNum type="arabicPeriod" startAt="11"/>
              <a:tabLst>
                <a:tab pos="351790" algn="l"/>
              </a:tabLst>
            </a:pP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CRUD</a:t>
            </a:r>
            <a:r>
              <a:rPr sz="1600" b="1" spc="-20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Operations</a:t>
            </a:r>
            <a:r>
              <a:rPr sz="1600" b="1" spc="-15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and</a:t>
            </a:r>
            <a:r>
              <a:rPr sz="1600" b="1" spc="-20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REST</a:t>
            </a:r>
            <a:r>
              <a:rPr sz="1600" b="1" spc="-15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API</a:t>
            </a:r>
            <a:r>
              <a:rPr sz="1600" b="1" spc="-15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Design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2800"/>
              </a:lnSpc>
              <a:spcBef>
                <a:spcPts val="720"/>
              </a:spcBef>
            </a:pPr>
            <a:r>
              <a:rPr sz="950" dirty="0">
                <a:latin typeface="Arial"/>
                <a:cs typeface="Arial"/>
              </a:rPr>
              <a:t>The backend</a:t>
            </a:r>
            <a:r>
              <a:rPr sz="950" spc="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can</a:t>
            </a:r>
            <a:r>
              <a:rPr sz="950" spc="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expose REST</a:t>
            </a:r>
            <a:r>
              <a:rPr sz="950" spc="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endpoints</a:t>
            </a:r>
            <a:r>
              <a:rPr sz="950" spc="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such as</a:t>
            </a:r>
            <a:r>
              <a:rPr sz="950" spc="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</a:t>
            </a:r>
            <a:r>
              <a:rPr sz="950" spc="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following. The</a:t>
            </a:r>
            <a:r>
              <a:rPr sz="950" spc="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final</a:t>
            </a:r>
            <a:r>
              <a:rPr sz="950" spc="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paths should</a:t>
            </a:r>
            <a:r>
              <a:rPr sz="950" spc="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match</a:t>
            </a:r>
            <a:r>
              <a:rPr sz="950" spc="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 </a:t>
            </a:r>
            <a:r>
              <a:rPr sz="950" spc="-10" dirty="0">
                <a:latin typeface="Arial"/>
                <a:cs typeface="Arial"/>
              </a:rPr>
              <a:t>implemented application.</a:t>
            </a:r>
            <a:endParaRPr sz="95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95459" y="6500160"/>
          <a:ext cx="5445760" cy="2679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4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Method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23573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Endpoint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23573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Operation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235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spc="-20" dirty="0">
                          <a:latin typeface="Arial"/>
                          <a:cs typeface="Arial"/>
                        </a:rPr>
                        <a:t>POST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/api/products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Create</a:t>
                      </a:r>
                      <a:r>
                        <a:rPr sz="8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product.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GET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/api/products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513080">
                        <a:lnSpc>
                          <a:spcPct val="114599"/>
                        </a:lnSpc>
                        <a:spcBef>
                          <a:spcPts val="3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Read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all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products;</a:t>
                      </a:r>
                      <a:r>
                        <a:rPr sz="8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support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search/filter</a:t>
                      </a:r>
                      <a:r>
                        <a:rPr sz="8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if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implemented.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GET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/api/products/:id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Read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one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product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by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ID.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PUT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800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PATCH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/api/products/:id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Update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product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details.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DELETE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/api/products/:id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Delete</a:t>
                      </a:r>
                      <a:r>
                        <a:rPr sz="8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product</a:t>
                      </a:r>
                      <a:r>
                        <a:rPr sz="8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if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authorized.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spc="-20" dirty="0">
                          <a:latin typeface="Arial"/>
                          <a:cs typeface="Arial"/>
                        </a:rPr>
                        <a:t>POST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/api/auth/register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Register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user.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spc="-20" dirty="0">
                          <a:latin typeface="Arial"/>
                          <a:cs typeface="Arial"/>
                        </a:rPr>
                        <a:t>POST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/api/auth/login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Authenticate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user.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GET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POST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PUT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DELETE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/api/farmers...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Manage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farmer</a:t>
                      </a:r>
                      <a:r>
                        <a:rPr sz="8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records</a:t>
                      </a:r>
                      <a:r>
                        <a:rPr sz="8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required.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83499" y="9314480"/>
            <a:ext cx="599376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2800"/>
              </a:lnSpc>
              <a:spcBef>
                <a:spcPts val="100"/>
              </a:spcBef>
            </a:pPr>
            <a:r>
              <a:rPr sz="950" dirty="0">
                <a:latin typeface="Arial"/>
                <a:cs typeface="Arial"/>
              </a:rPr>
              <a:t>CRUD</a:t>
            </a:r>
            <a:r>
              <a:rPr sz="950" spc="-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means</a:t>
            </a:r>
            <a:r>
              <a:rPr sz="950" spc="-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Create,</a:t>
            </a:r>
            <a:r>
              <a:rPr sz="950" spc="-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Read,</a:t>
            </a:r>
            <a:r>
              <a:rPr sz="950" spc="-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Update,</a:t>
            </a:r>
            <a:r>
              <a:rPr sz="950" spc="-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-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Delete.</a:t>
            </a:r>
            <a:r>
              <a:rPr sz="950" spc="-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Each</a:t>
            </a:r>
            <a:r>
              <a:rPr sz="950" spc="-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endpoint</a:t>
            </a:r>
            <a:r>
              <a:rPr sz="950" spc="-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should</a:t>
            </a:r>
            <a:r>
              <a:rPr sz="950" spc="-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return</a:t>
            </a:r>
            <a:r>
              <a:rPr sz="950" spc="-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</a:t>
            </a:r>
            <a:r>
              <a:rPr sz="950" spc="-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appropriate</a:t>
            </a:r>
            <a:r>
              <a:rPr sz="950" spc="-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HTTP</a:t>
            </a:r>
            <a:r>
              <a:rPr sz="950" spc="-2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status</a:t>
            </a:r>
            <a:r>
              <a:rPr sz="950" spc="-15" dirty="0">
                <a:latin typeface="Arial"/>
                <a:cs typeface="Arial"/>
              </a:rPr>
              <a:t> </a:t>
            </a:r>
            <a:r>
              <a:rPr sz="950" spc="-20" dirty="0">
                <a:latin typeface="Arial"/>
                <a:cs typeface="Arial"/>
              </a:rPr>
              <a:t>code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9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JSON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body.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For</a:t>
            </a:r>
            <a:r>
              <a:rPr sz="950" spc="9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example,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successful</a:t>
            </a:r>
            <a:r>
              <a:rPr sz="950" spc="9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creation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can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return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status</a:t>
            </a:r>
            <a:r>
              <a:rPr sz="950" spc="9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201;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missing</a:t>
            </a:r>
            <a:r>
              <a:rPr sz="950" spc="9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record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can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return</a:t>
            </a:r>
            <a:r>
              <a:rPr sz="950" spc="95" dirty="0">
                <a:latin typeface="Arial"/>
                <a:cs typeface="Arial"/>
              </a:rPr>
              <a:t> </a:t>
            </a:r>
            <a:r>
              <a:rPr sz="950" spc="-20" dirty="0">
                <a:latin typeface="Arial"/>
                <a:cs typeface="Arial"/>
              </a:rPr>
              <a:t>404; </a:t>
            </a:r>
            <a:r>
              <a:rPr sz="950" dirty="0">
                <a:latin typeface="Arial"/>
                <a:cs typeface="Arial"/>
              </a:rPr>
              <a:t>invalid input can return 400; and an unauthenticated request can return </a:t>
            </a:r>
            <a:r>
              <a:rPr sz="950" spc="-20" dirty="0">
                <a:latin typeface="Arial"/>
                <a:cs typeface="Arial"/>
              </a:rPr>
              <a:t>401.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Organic</a:t>
            </a:r>
            <a:r>
              <a:rPr spc="-25" dirty="0"/>
              <a:t> </a:t>
            </a:r>
            <a:r>
              <a:rPr dirty="0"/>
              <a:t>Farming</a:t>
            </a:r>
            <a:r>
              <a:rPr spc="-20" dirty="0"/>
              <a:t> </a:t>
            </a:r>
            <a:r>
              <a:rPr dirty="0"/>
              <a:t>Marketplace</a:t>
            </a:r>
            <a:r>
              <a:rPr spc="-2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MERN</a:t>
            </a:r>
            <a:r>
              <a:rPr spc="-20" dirty="0"/>
              <a:t> </a:t>
            </a:r>
            <a:r>
              <a:rPr dirty="0"/>
              <a:t>Stack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10" dirty="0"/>
              <a:t>Report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499" y="711500"/>
            <a:ext cx="5940425" cy="443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790" indent="-339090">
              <a:lnSpc>
                <a:spcPct val="100000"/>
              </a:lnSpc>
              <a:spcBef>
                <a:spcPts val="100"/>
              </a:spcBef>
              <a:buAutoNum type="arabicPeriod" startAt="13"/>
              <a:tabLst>
                <a:tab pos="351790" algn="l"/>
              </a:tabLst>
            </a:pP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Authentication and Role-Based </a:t>
            </a: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Access</a:t>
            </a:r>
            <a:endParaRPr sz="160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98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Store password hashes rather than plain-text passwords, using a suitable password-hashing </a:t>
            </a:r>
            <a:r>
              <a:rPr sz="950" spc="-10" dirty="0">
                <a:latin typeface="Arial"/>
                <a:cs typeface="Arial"/>
              </a:rPr>
              <a:t>library.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Protect private endpoints with authentication </a:t>
            </a:r>
            <a:r>
              <a:rPr sz="950" spc="-10" dirty="0">
                <a:latin typeface="Arial"/>
                <a:cs typeface="Arial"/>
              </a:rPr>
              <a:t>middleware.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Allow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farmers to update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or delete only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listings they own,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unless an administrator has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broader </a:t>
            </a:r>
            <a:r>
              <a:rPr sz="950" spc="-10" dirty="0">
                <a:latin typeface="Arial"/>
                <a:cs typeface="Arial"/>
              </a:rPr>
              <a:t>permissions.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Use roles such as customer, farmer, and admin only if those roles are needed by the </a:t>
            </a:r>
            <a:r>
              <a:rPr sz="950" spc="-10" dirty="0">
                <a:latin typeface="Arial"/>
                <a:cs typeface="Arial"/>
              </a:rPr>
              <a:t>project.</a:t>
            </a:r>
            <a:endParaRPr sz="950">
              <a:latin typeface="Arial"/>
              <a:cs typeface="Arial"/>
            </a:endParaRPr>
          </a:p>
          <a:p>
            <a:pPr marL="164465" marR="67310" lvl="1" indent="-75565">
              <a:lnSpc>
                <a:spcPct val="113999"/>
              </a:lnSpc>
              <a:spcBef>
                <a:spcPts val="600"/>
              </a:spcBef>
              <a:buChar char="•"/>
              <a:tabLst>
                <a:tab pos="190500" algn="l"/>
              </a:tabLst>
            </a:pPr>
            <a:r>
              <a:rPr sz="950" dirty="0">
                <a:latin typeface="Arial"/>
                <a:cs typeface="Arial"/>
              </a:rPr>
              <a:t>Keep secrets such as database connection strings and token keys in environment variables; do not </a:t>
            </a:r>
            <a:r>
              <a:rPr sz="950" spc="-10" dirty="0">
                <a:latin typeface="Arial"/>
                <a:cs typeface="Arial"/>
              </a:rPr>
              <a:t>commit 	</a:t>
            </a:r>
            <a:r>
              <a:rPr sz="950" dirty="0">
                <a:latin typeface="Arial"/>
                <a:cs typeface="Arial"/>
              </a:rPr>
              <a:t>them to source </a:t>
            </a:r>
            <a:r>
              <a:rPr sz="950" spc="-10" dirty="0">
                <a:latin typeface="Arial"/>
                <a:cs typeface="Arial"/>
              </a:rPr>
              <a:t>control.</a:t>
            </a:r>
            <a:endParaRPr sz="9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65"/>
              </a:spcBef>
              <a:buFont typeface="Arial"/>
              <a:buChar char="•"/>
            </a:pPr>
            <a:endParaRPr sz="950">
              <a:latin typeface="Arial"/>
              <a:cs typeface="Arial"/>
            </a:endParaRPr>
          </a:p>
          <a:p>
            <a:pPr marL="351790" indent="-339090">
              <a:lnSpc>
                <a:spcPct val="100000"/>
              </a:lnSpc>
              <a:buAutoNum type="arabicPeriod" startAt="13"/>
              <a:tabLst>
                <a:tab pos="351790" algn="l"/>
              </a:tabLst>
            </a:pP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Implementation</a:t>
            </a:r>
            <a:r>
              <a:rPr sz="1600" b="1" spc="20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Workflow</a:t>
            </a:r>
            <a:endParaRPr sz="160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98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Plan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 pages,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roles, data fields,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 API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routes.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Create the Node.js project and configure Express, environment variables, and MongoDB </a:t>
            </a:r>
            <a:r>
              <a:rPr sz="950" spc="-10" dirty="0">
                <a:latin typeface="Arial"/>
                <a:cs typeface="Arial"/>
              </a:rPr>
              <a:t>connection.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Define database models and backend </a:t>
            </a:r>
            <a:r>
              <a:rPr sz="950" spc="-10" dirty="0">
                <a:latin typeface="Arial"/>
                <a:cs typeface="Arial"/>
              </a:rPr>
              <a:t>validation.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Implement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test authentication,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farmer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routes, and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product CRUD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APIs.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Create React pages and reusable components for product lists, forms, login, and </a:t>
            </a:r>
            <a:r>
              <a:rPr sz="950" spc="-10" dirty="0">
                <a:latin typeface="Arial"/>
                <a:cs typeface="Arial"/>
              </a:rPr>
              <a:t>dashboards.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Connect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 frontend to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 API and handle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loading, success, and error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states.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Test the complete workflow and document screenshots and verified </a:t>
            </a:r>
            <a:r>
              <a:rPr sz="950" spc="-10" dirty="0">
                <a:latin typeface="Arial"/>
                <a:cs typeface="Arial"/>
              </a:rPr>
              <a:t>outcomes.</a:t>
            </a:r>
            <a:endParaRPr sz="9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70"/>
              </a:spcBef>
              <a:buFont typeface="Arial"/>
              <a:buChar char="•"/>
            </a:pPr>
            <a:endParaRPr sz="950">
              <a:latin typeface="Arial"/>
              <a:cs typeface="Arial"/>
            </a:endParaRPr>
          </a:p>
          <a:p>
            <a:pPr marL="351790" indent="-339090">
              <a:lnSpc>
                <a:spcPct val="100000"/>
              </a:lnSpc>
              <a:buAutoNum type="arabicPeriod" startAt="13"/>
              <a:tabLst>
                <a:tab pos="351790" algn="l"/>
              </a:tabLst>
            </a:pP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Testing and </a:t>
            </a: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Validation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950" dirty="0">
                <a:latin typeface="Arial"/>
                <a:cs typeface="Arial"/>
              </a:rPr>
              <a:t>Testing should be performed after implementation. The following checklist can be used to record actual </a:t>
            </a:r>
            <a:r>
              <a:rPr sz="950" spc="-10" dirty="0">
                <a:latin typeface="Arial"/>
                <a:cs typeface="Arial"/>
              </a:rPr>
              <a:t>results:</a:t>
            </a:r>
            <a:endParaRPr sz="95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95459" y="5255560"/>
          <a:ext cx="5445760" cy="2831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Test</a:t>
                      </a:r>
                      <a:r>
                        <a:rPr sz="800" b="1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20" dirty="0">
                          <a:latin typeface="Arial"/>
                          <a:cs typeface="Arial"/>
                        </a:rPr>
                        <a:t>case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23573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Expected</a:t>
                      </a:r>
                      <a:r>
                        <a:rPr sz="800" b="1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result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23573B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Status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235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Open</a:t>
                      </a:r>
                      <a:r>
                        <a:rPr sz="8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product</a:t>
                      </a:r>
                      <a:r>
                        <a:rPr sz="8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catalogue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Available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products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are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displayed.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tested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76200" marR="231775">
                        <a:lnSpc>
                          <a:spcPct val="114599"/>
                        </a:lnSpc>
                        <a:spcBef>
                          <a:spcPts val="3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Create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product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valid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data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Record</a:t>
                      </a:r>
                      <a:r>
                        <a:rPr sz="8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saved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appears</a:t>
                      </a:r>
                      <a:r>
                        <a:rPr sz="8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catalogue.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tested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76200" marR="354965">
                        <a:lnSpc>
                          <a:spcPct val="114599"/>
                        </a:lnSpc>
                        <a:spcBef>
                          <a:spcPts val="3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Submit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invalid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price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quantity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Validation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error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returned;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invalid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saved.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tested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Update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existing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product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Changed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fields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are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persisted</a:t>
                      </a:r>
                      <a:r>
                        <a:rPr sz="8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displayed.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tested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76200" marR="402590">
                        <a:lnSpc>
                          <a:spcPct val="114599"/>
                        </a:lnSpc>
                        <a:spcBef>
                          <a:spcPts val="3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Delete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product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with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permission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Record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removed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8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marked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inactive</a:t>
                      </a:r>
                      <a:r>
                        <a:rPr sz="8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designed.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tested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76200" marR="389890">
                        <a:lnSpc>
                          <a:spcPct val="114599"/>
                        </a:lnSpc>
                        <a:spcBef>
                          <a:spcPts val="3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Attempt</a:t>
                      </a:r>
                      <a:r>
                        <a:rPr sz="8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unauthorized update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Request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rejected.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tested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  <a:solidFill>
                      <a:srgbClr val="F4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76200" marR="518795">
                        <a:lnSpc>
                          <a:spcPct val="114599"/>
                        </a:lnSpc>
                        <a:spcBef>
                          <a:spcPts val="39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Backend/database unavailable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349250">
                        <a:lnSpc>
                          <a:spcPct val="114599"/>
                        </a:lnSpc>
                        <a:spcBef>
                          <a:spcPts val="3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Frontend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displays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helpful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error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instead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failing silently.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tested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6350">
                      <a:solidFill>
                        <a:srgbClr val="C4D1C8"/>
                      </a:solidFill>
                      <a:prstDash val="solid"/>
                    </a:lnL>
                    <a:lnR w="6350">
                      <a:solidFill>
                        <a:srgbClr val="C4D1C8"/>
                      </a:solidFill>
                      <a:prstDash val="solid"/>
                    </a:lnR>
                    <a:lnT w="6350">
                      <a:solidFill>
                        <a:srgbClr val="C4D1C8"/>
                      </a:solidFill>
                      <a:prstDash val="solid"/>
                    </a:lnT>
                    <a:lnB w="6350">
                      <a:solidFill>
                        <a:srgbClr val="C4D1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83499" y="8235488"/>
            <a:ext cx="5724525" cy="1473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5"/>
              </a:spcBef>
            </a:pPr>
            <a:r>
              <a:rPr sz="850" dirty="0">
                <a:latin typeface="Arial"/>
                <a:cs typeface="Arial"/>
              </a:rPr>
              <a:t>Note:</a:t>
            </a:r>
            <a:r>
              <a:rPr sz="850" spc="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The</a:t>
            </a:r>
            <a:r>
              <a:rPr sz="850" spc="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status</a:t>
            </a:r>
            <a:r>
              <a:rPr sz="850" spc="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column</a:t>
            </a:r>
            <a:r>
              <a:rPr sz="850" spc="4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is</a:t>
            </a:r>
            <a:r>
              <a:rPr sz="850" spc="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intentionally</a:t>
            </a:r>
            <a:r>
              <a:rPr sz="850" spc="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marked</a:t>
            </a:r>
            <a:r>
              <a:rPr sz="850" spc="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“To</a:t>
            </a:r>
            <a:r>
              <a:rPr sz="850" spc="4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be</a:t>
            </a:r>
            <a:r>
              <a:rPr sz="850" spc="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tested.”</a:t>
            </a:r>
            <a:r>
              <a:rPr sz="850" spc="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Replace</a:t>
            </a:r>
            <a:r>
              <a:rPr sz="850" spc="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it</a:t>
            </a:r>
            <a:r>
              <a:rPr sz="850" spc="4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with</a:t>
            </a:r>
            <a:r>
              <a:rPr sz="850" spc="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Pass/Fail</a:t>
            </a:r>
            <a:r>
              <a:rPr sz="850" spc="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and</a:t>
            </a:r>
            <a:r>
              <a:rPr sz="850" spc="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add</a:t>
            </a:r>
            <a:r>
              <a:rPr sz="850" spc="4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screenshots</a:t>
            </a:r>
            <a:r>
              <a:rPr sz="850" spc="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or</a:t>
            </a:r>
            <a:r>
              <a:rPr sz="850" spc="35" dirty="0">
                <a:latin typeface="Arial"/>
                <a:cs typeface="Arial"/>
              </a:rPr>
              <a:t> </a:t>
            </a:r>
            <a:r>
              <a:rPr sz="850" spc="-20" dirty="0">
                <a:latin typeface="Arial"/>
                <a:cs typeface="Arial"/>
              </a:rPr>
              <a:t>test </a:t>
            </a:r>
            <a:r>
              <a:rPr sz="850" dirty="0">
                <a:latin typeface="Arial"/>
                <a:cs typeface="Arial"/>
              </a:rPr>
              <a:t>evidence</a:t>
            </a:r>
            <a:r>
              <a:rPr sz="850" spc="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only</a:t>
            </a:r>
            <a:r>
              <a:rPr sz="850" spc="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after</a:t>
            </a:r>
            <a:r>
              <a:rPr sz="850" spc="35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running</a:t>
            </a:r>
            <a:r>
              <a:rPr sz="850" spc="40" dirty="0">
                <a:latin typeface="Arial"/>
                <a:cs typeface="Arial"/>
              </a:rPr>
              <a:t> </a:t>
            </a:r>
            <a:r>
              <a:rPr sz="850" dirty="0">
                <a:latin typeface="Arial"/>
                <a:cs typeface="Arial"/>
              </a:rPr>
              <a:t>the</a:t>
            </a:r>
            <a:r>
              <a:rPr sz="850" spc="35" dirty="0">
                <a:latin typeface="Arial"/>
                <a:cs typeface="Arial"/>
              </a:rPr>
              <a:t> </a:t>
            </a:r>
            <a:r>
              <a:rPr sz="850" spc="-10" dirty="0">
                <a:latin typeface="Arial"/>
                <a:cs typeface="Arial"/>
              </a:rPr>
              <a:t>application.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850">
              <a:latin typeface="Arial"/>
              <a:cs typeface="Arial"/>
            </a:endParaRPr>
          </a:p>
          <a:p>
            <a:pPr marL="351790" indent="-339090">
              <a:lnSpc>
                <a:spcPct val="100000"/>
              </a:lnSpc>
              <a:spcBef>
                <a:spcPts val="5"/>
              </a:spcBef>
              <a:buAutoNum type="arabicPeriod" startAt="16"/>
              <a:tabLst>
                <a:tab pos="351790" algn="l"/>
              </a:tabLst>
            </a:pP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Expected </a:t>
            </a: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Results</a:t>
            </a:r>
            <a:endParaRPr sz="160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98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A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working web interface for browsing organic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product </a:t>
            </a:r>
            <a:r>
              <a:rPr sz="950" spc="-10" dirty="0">
                <a:latin typeface="Arial"/>
                <a:cs typeface="Arial"/>
              </a:rPr>
              <a:t>listings.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MongoDB records for products and farmers with price and quantity </a:t>
            </a:r>
            <a:r>
              <a:rPr sz="950" spc="-10" dirty="0">
                <a:latin typeface="Arial"/>
                <a:cs typeface="Arial"/>
              </a:rPr>
              <a:t>fields.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REST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API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endpoints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for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adding,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viewing,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updating,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deleting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records.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Organic</a:t>
            </a:r>
            <a:r>
              <a:rPr spc="-25" dirty="0"/>
              <a:t> </a:t>
            </a:r>
            <a:r>
              <a:rPr dirty="0"/>
              <a:t>Farming</a:t>
            </a:r>
            <a:r>
              <a:rPr spc="-20" dirty="0"/>
              <a:t> </a:t>
            </a:r>
            <a:r>
              <a:rPr dirty="0"/>
              <a:t>Marketplace</a:t>
            </a:r>
            <a:r>
              <a:rPr spc="-2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MERN</a:t>
            </a:r>
            <a:r>
              <a:rPr spc="-20" dirty="0"/>
              <a:t> </a:t>
            </a:r>
            <a:r>
              <a:rPr dirty="0"/>
              <a:t>Stack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10" dirty="0"/>
              <a:t>Report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3499" y="711500"/>
            <a:ext cx="5993765" cy="8348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indent="-75565">
              <a:lnSpc>
                <a:spcPct val="100000"/>
              </a:lnSpc>
              <a:spcBef>
                <a:spcPts val="10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Authentication and role-based restrictions for protected actions, where </a:t>
            </a:r>
            <a:r>
              <a:rPr sz="950" spc="-10" dirty="0">
                <a:latin typeface="Arial"/>
                <a:cs typeface="Arial"/>
              </a:rPr>
              <a:t>implemented.</a:t>
            </a:r>
            <a:endParaRPr sz="950">
              <a:latin typeface="Arial"/>
              <a:cs typeface="Arial"/>
            </a:endParaRPr>
          </a:p>
          <a:p>
            <a:pPr marL="164465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Clear validation and error messages for common user </a:t>
            </a:r>
            <a:r>
              <a:rPr sz="950" spc="-10" dirty="0">
                <a:latin typeface="Arial"/>
                <a:cs typeface="Arial"/>
              </a:rPr>
              <a:t>actions.</a:t>
            </a:r>
            <a:endParaRPr sz="950">
              <a:latin typeface="Arial"/>
              <a:cs typeface="Arial"/>
            </a:endParaRPr>
          </a:p>
          <a:p>
            <a:pPr marL="164465" marR="314960" indent="-75565">
              <a:lnSpc>
                <a:spcPct val="113999"/>
              </a:lnSpc>
              <a:spcBef>
                <a:spcPts val="600"/>
              </a:spcBef>
              <a:buChar char="•"/>
              <a:tabLst>
                <a:tab pos="190500" algn="l"/>
              </a:tabLst>
            </a:pPr>
            <a:r>
              <a:rPr sz="950" dirty="0">
                <a:latin typeface="Arial"/>
                <a:cs typeface="Arial"/>
              </a:rPr>
              <a:t>A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modular MERN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codebase that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can be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extended with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orders, payments,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delivery tracking,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ratings, </a:t>
            </a:r>
            <a:r>
              <a:rPr sz="950" spc="-25" dirty="0">
                <a:latin typeface="Arial"/>
                <a:cs typeface="Arial"/>
              </a:rPr>
              <a:t>and 	</a:t>
            </a:r>
            <a:r>
              <a:rPr sz="950" dirty="0">
                <a:latin typeface="Arial"/>
                <a:cs typeface="Arial"/>
              </a:rPr>
              <a:t>certification </a:t>
            </a:r>
            <a:r>
              <a:rPr sz="950" spc="-10" dirty="0">
                <a:latin typeface="Arial"/>
                <a:cs typeface="Arial"/>
              </a:rPr>
              <a:t>details.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50">
              <a:latin typeface="Arial"/>
              <a:cs typeface="Arial"/>
            </a:endParaRPr>
          </a:p>
          <a:p>
            <a:pPr marL="351790" indent="-339090">
              <a:lnSpc>
                <a:spcPct val="100000"/>
              </a:lnSpc>
              <a:buAutoNum type="arabicPeriod" startAt="17"/>
              <a:tabLst>
                <a:tab pos="351790" algn="l"/>
              </a:tabLst>
            </a:pP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Advantages,</a:t>
            </a:r>
            <a:r>
              <a:rPr sz="1600" b="1" spc="-25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Limitations,</a:t>
            </a:r>
            <a:r>
              <a:rPr sz="1600" b="1" spc="-20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and</a:t>
            </a:r>
            <a:r>
              <a:rPr sz="1600" b="1" spc="-25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3573B"/>
                </a:solidFill>
                <a:latin typeface="Arial"/>
                <a:cs typeface="Arial"/>
              </a:rPr>
              <a:t>Future</a:t>
            </a:r>
            <a:r>
              <a:rPr sz="1600" b="1" spc="-20" dirty="0">
                <a:solidFill>
                  <a:srgbClr val="23573B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Enhancements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200" b="1" spc="-10" dirty="0">
                <a:solidFill>
                  <a:srgbClr val="38724F"/>
                </a:solidFill>
                <a:latin typeface="Arial"/>
                <a:cs typeface="Arial"/>
              </a:rPr>
              <a:t>Advantages</a:t>
            </a:r>
            <a:endParaRPr sz="120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Centralized product and farmer </a:t>
            </a:r>
            <a:r>
              <a:rPr sz="950" spc="-10" dirty="0">
                <a:latin typeface="Arial"/>
                <a:cs typeface="Arial"/>
              </a:rPr>
              <a:t>information.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Faster product discovery and easier inventory </a:t>
            </a:r>
            <a:r>
              <a:rPr sz="950" spc="-10" dirty="0">
                <a:latin typeface="Arial"/>
                <a:cs typeface="Arial"/>
              </a:rPr>
              <a:t>updates.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Clear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separation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between frontend,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API, and</a:t>
            </a:r>
            <a:r>
              <a:rPr sz="950" spc="-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database </a:t>
            </a:r>
            <a:r>
              <a:rPr sz="950" spc="-10" dirty="0">
                <a:latin typeface="Arial"/>
                <a:cs typeface="Arial"/>
              </a:rPr>
              <a:t>layers.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Reusable React components and maintainable backend </a:t>
            </a:r>
            <a:r>
              <a:rPr sz="950" spc="-10" dirty="0">
                <a:latin typeface="Arial"/>
                <a:cs typeface="Arial"/>
              </a:rPr>
              <a:t>routes.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200" b="1" spc="-10" dirty="0">
                <a:solidFill>
                  <a:srgbClr val="38724F"/>
                </a:solidFill>
                <a:latin typeface="Arial"/>
                <a:cs typeface="Arial"/>
              </a:rPr>
              <a:t>Limitations</a:t>
            </a:r>
            <a:endParaRPr sz="120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The marketplace depends on internet access and a functioning </a:t>
            </a:r>
            <a:r>
              <a:rPr sz="950" spc="-10" dirty="0">
                <a:latin typeface="Arial"/>
                <a:cs typeface="Arial"/>
              </a:rPr>
              <a:t>server/database.</a:t>
            </a:r>
            <a:endParaRPr sz="950">
              <a:latin typeface="Arial"/>
              <a:cs typeface="Arial"/>
            </a:endParaRPr>
          </a:p>
          <a:p>
            <a:pPr marL="164465" marR="589915" lvl="1" indent="-75565">
              <a:lnSpc>
                <a:spcPct val="113999"/>
              </a:lnSpc>
              <a:spcBef>
                <a:spcPts val="600"/>
              </a:spcBef>
              <a:buChar char="•"/>
              <a:tabLst>
                <a:tab pos="190500" algn="l"/>
              </a:tabLst>
            </a:pPr>
            <a:r>
              <a:rPr sz="950" dirty="0">
                <a:latin typeface="Arial"/>
                <a:cs typeface="Arial"/>
              </a:rPr>
              <a:t>Organic status cannot be guaranteed by a listing alone; claims may require evidence or third-</a:t>
            </a:r>
            <a:r>
              <a:rPr sz="950" spc="-10" dirty="0">
                <a:latin typeface="Arial"/>
                <a:cs typeface="Arial"/>
              </a:rPr>
              <a:t>party 	</a:t>
            </a:r>
            <a:r>
              <a:rPr sz="950" dirty="0">
                <a:latin typeface="Arial"/>
                <a:cs typeface="Arial"/>
              </a:rPr>
              <a:t>certification </a:t>
            </a:r>
            <a:r>
              <a:rPr sz="950" spc="-10" dirty="0">
                <a:latin typeface="Arial"/>
                <a:cs typeface="Arial"/>
              </a:rPr>
              <a:t>checks.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Payments, delivery, refunds, and dispute handling require additional design and testing if </a:t>
            </a:r>
            <a:r>
              <a:rPr sz="950" spc="-10" dirty="0">
                <a:latin typeface="Arial"/>
                <a:cs typeface="Arial"/>
              </a:rPr>
              <a:t>added.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200" b="1" dirty="0">
                <a:solidFill>
                  <a:srgbClr val="38724F"/>
                </a:solidFill>
                <a:latin typeface="Arial"/>
                <a:cs typeface="Arial"/>
              </a:rPr>
              <a:t>Future</a:t>
            </a:r>
            <a:r>
              <a:rPr sz="1200" b="1" spc="-40" dirty="0">
                <a:solidFill>
                  <a:srgbClr val="38724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38724F"/>
                </a:solidFill>
                <a:latin typeface="Arial"/>
                <a:cs typeface="Arial"/>
              </a:rPr>
              <a:t>enhancements</a:t>
            </a:r>
            <a:endParaRPr sz="120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Shopping cart, order placement, payment gateway integration, and order </a:t>
            </a:r>
            <a:r>
              <a:rPr sz="950" spc="-10" dirty="0">
                <a:latin typeface="Arial"/>
                <a:cs typeface="Arial"/>
              </a:rPr>
              <a:t>history.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Delivery tracking, seller ratings, customer reviews, and </a:t>
            </a:r>
            <a:r>
              <a:rPr sz="950" spc="-10" dirty="0">
                <a:latin typeface="Arial"/>
                <a:cs typeface="Arial"/>
              </a:rPr>
              <a:t>notifications.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Product images, category filters, location-based discovery, and multilingual </a:t>
            </a:r>
            <a:r>
              <a:rPr sz="950" spc="-10" dirty="0">
                <a:latin typeface="Arial"/>
                <a:cs typeface="Arial"/>
              </a:rPr>
              <a:t>support.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Certification documents or verification workflows for organic </a:t>
            </a:r>
            <a:r>
              <a:rPr sz="950" spc="-10" dirty="0">
                <a:latin typeface="Arial"/>
                <a:cs typeface="Arial"/>
              </a:rPr>
              <a:t>claims.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Analytics dashboard for sales, stock levels, and popular </a:t>
            </a:r>
            <a:r>
              <a:rPr sz="950" spc="-10" dirty="0">
                <a:latin typeface="Arial"/>
                <a:cs typeface="Arial"/>
              </a:rPr>
              <a:t>products.</a:t>
            </a:r>
            <a:endParaRPr sz="9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70"/>
              </a:spcBef>
              <a:buFont typeface="Arial"/>
              <a:buChar char="•"/>
            </a:pPr>
            <a:endParaRPr sz="950">
              <a:latin typeface="Arial"/>
              <a:cs typeface="Arial"/>
            </a:endParaRPr>
          </a:p>
          <a:p>
            <a:pPr marL="351790" indent="-339090">
              <a:lnSpc>
                <a:spcPct val="100000"/>
              </a:lnSpc>
              <a:buAutoNum type="arabicPeriod" startAt="18"/>
              <a:tabLst>
                <a:tab pos="351790" algn="l"/>
              </a:tabLst>
            </a:pP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Conclusion</a:t>
            </a:r>
            <a:endParaRPr sz="1600">
              <a:latin typeface="Arial"/>
              <a:cs typeface="Arial"/>
            </a:endParaRPr>
          </a:p>
          <a:p>
            <a:pPr marL="12700" marR="5080" algn="just">
              <a:lnSpc>
                <a:spcPct val="122800"/>
              </a:lnSpc>
              <a:spcBef>
                <a:spcPts val="720"/>
              </a:spcBef>
            </a:pPr>
            <a:r>
              <a:rPr sz="950" dirty="0">
                <a:latin typeface="Arial"/>
                <a:cs typeface="Arial"/>
              </a:rPr>
              <a:t>The</a:t>
            </a:r>
            <a:r>
              <a:rPr sz="950" spc="18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Organic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Farming</a:t>
            </a:r>
            <a:r>
              <a:rPr sz="950" spc="18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Marketplace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is</a:t>
            </a:r>
            <a:r>
              <a:rPr sz="950" spc="18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practical</a:t>
            </a:r>
            <a:r>
              <a:rPr sz="950" spc="18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project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for</a:t>
            </a:r>
            <a:r>
              <a:rPr sz="950" spc="18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demonstrating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</a:t>
            </a:r>
            <a:r>
              <a:rPr sz="950" spc="18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MERN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stack</a:t>
            </a:r>
            <a:r>
              <a:rPr sz="950" spc="18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in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</a:t>
            </a:r>
            <a:r>
              <a:rPr sz="950" spc="18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real-</a:t>
            </a:r>
            <a:r>
              <a:rPr sz="950" spc="-10" dirty="0">
                <a:latin typeface="Arial"/>
                <a:cs typeface="Arial"/>
              </a:rPr>
              <a:t>world </a:t>
            </a:r>
            <a:r>
              <a:rPr sz="950" dirty="0">
                <a:latin typeface="Arial"/>
                <a:cs typeface="Arial"/>
              </a:rPr>
              <a:t>agricultural</a:t>
            </a:r>
            <a:r>
              <a:rPr sz="950" spc="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context.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MongoDB</a:t>
            </a:r>
            <a:r>
              <a:rPr sz="950" spc="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stores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farmer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product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information,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Express.js</a:t>
            </a:r>
            <a:r>
              <a:rPr sz="950" spc="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Node.js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provide</a:t>
            </a:r>
            <a:r>
              <a:rPr sz="950" spc="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APIs,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spc="-25" dirty="0">
                <a:latin typeface="Arial"/>
                <a:cs typeface="Arial"/>
              </a:rPr>
              <a:t>and </a:t>
            </a:r>
            <a:r>
              <a:rPr sz="950" dirty="0">
                <a:latin typeface="Arial"/>
                <a:cs typeface="Arial"/>
              </a:rPr>
              <a:t>React.js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delivers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user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interface.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CRUD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functionality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supports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product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farmer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record</a:t>
            </a:r>
            <a:r>
              <a:rPr sz="950" spc="1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management,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while </a:t>
            </a:r>
            <a:r>
              <a:rPr sz="950" dirty="0">
                <a:latin typeface="Arial"/>
                <a:cs typeface="Arial"/>
              </a:rPr>
              <a:t>authentication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role-based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authorization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help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protect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important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operations.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Once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implemented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and</a:t>
            </a:r>
            <a:r>
              <a:rPr sz="950" spc="100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tested, </a:t>
            </a:r>
            <a:r>
              <a:rPr sz="950" dirty="0">
                <a:latin typeface="Arial"/>
                <a:cs typeface="Arial"/>
              </a:rPr>
              <a:t>the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application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can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provide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a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useful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foundation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for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connecting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organic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farmers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with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customers.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The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dirty="0">
                <a:latin typeface="Arial"/>
                <a:cs typeface="Arial"/>
              </a:rPr>
              <a:t>final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spc="-10" dirty="0">
                <a:latin typeface="Arial"/>
                <a:cs typeface="Arial"/>
              </a:rPr>
              <a:t>report </a:t>
            </a:r>
            <a:r>
              <a:rPr sz="950" dirty="0">
                <a:latin typeface="Arial"/>
                <a:cs typeface="Arial"/>
              </a:rPr>
              <a:t>should be updated with screenshots, measured results, and test outcomes from the actual running </a:t>
            </a:r>
            <a:r>
              <a:rPr sz="950" spc="-10" dirty="0">
                <a:latin typeface="Arial"/>
                <a:cs typeface="Arial"/>
              </a:rPr>
              <a:t>system.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Arial"/>
              <a:cs typeface="Arial"/>
            </a:endParaRPr>
          </a:p>
          <a:p>
            <a:pPr marL="351790" indent="-339090">
              <a:lnSpc>
                <a:spcPct val="100000"/>
              </a:lnSpc>
              <a:buAutoNum type="arabicPeriod" startAt="19"/>
              <a:tabLst>
                <a:tab pos="351790" algn="l"/>
              </a:tabLst>
            </a:pPr>
            <a:r>
              <a:rPr sz="1600" b="1" spc="-10" dirty="0">
                <a:solidFill>
                  <a:srgbClr val="23573B"/>
                </a:solidFill>
                <a:latin typeface="Arial"/>
                <a:cs typeface="Arial"/>
              </a:rPr>
              <a:t>References</a:t>
            </a:r>
            <a:endParaRPr sz="160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98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MongoDB Documentation — </a:t>
            </a:r>
            <a:r>
              <a:rPr sz="950" spc="-10" dirty="0">
                <a:latin typeface="Arial"/>
                <a:cs typeface="Arial"/>
                <a:hlinkClick r:id="rId2"/>
              </a:rPr>
              <a:t>https://www.mongodb.com/docs/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Express.js Documentation — </a:t>
            </a:r>
            <a:r>
              <a:rPr sz="950" spc="-10" dirty="0">
                <a:latin typeface="Arial"/>
                <a:cs typeface="Arial"/>
                <a:hlinkClick r:id="rId3"/>
              </a:rPr>
              <a:t>https://expressjs.com/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React Documentation — </a:t>
            </a:r>
            <a:r>
              <a:rPr sz="950" spc="-10" dirty="0">
                <a:latin typeface="Arial"/>
                <a:cs typeface="Arial"/>
                <a:hlinkClick r:id="rId4"/>
              </a:rPr>
              <a:t>https://react.dev/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Node.js Documentation — </a:t>
            </a:r>
            <a:r>
              <a:rPr sz="950" spc="-10" dirty="0">
                <a:latin typeface="Arial"/>
                <a:cs typeface="Arial"/>
                <a:hlinkClick r:id="rId5"/>
              </a:rPr>
              <a:t>https://nodejs.org/docs/</a:t>
            </a:r>
            <a:endParaRPr sz="950">
              <a:latin typeface="Arial"/>
              <a:cs typeface="Arial"/>
            </a:endParaRPr>
          </a:p>
          <a:p>
            <a:pPr marL="164465" lvl="1" indent="-75565">
              <a:lnSpc>
                <a:spcPct val="100000"/>
              </a:lnSpc>
              <a:spcBef>
                <a:spcPts val="760"/>
              </a:spcBef>
              <a:buChar char="•"/>
              <a:tabLst>
                <a:tab pos="164465" algn="l"/>
              </a:tabLst>
            </a:pPr>
            <a:r>
              <a:rPr sz="950" dirty="0">
                <a:latin typeface="Arial"/>
                <a:cs typeface="Arial"/>
              </a:rPr>
              <a:t>Mongoose Documentation (if used) — </a:t>
            </a:r>
            <a:r>
              <a:rPr sz="950" spc="-10" dirty="0">
                <a:latin typeface="Arial"/>
                <a:cs typeface="Arial"/>
                <a:hlinkClick r:id="rId6"/>
              </a:rPr>
              <a:t>https://mongoosejs.com/docs/</a:t>
            </a:r>
            <a:endParaRPr sz="9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Organic</a:t>
            </a:r>
            <a:r>
              <a:rPr spc="-25" dirty="0"/>
              <a:t> </a:t>
            </a:r>
            <a:r>
              <a:rPr dirty="0"/>
              <a:t>Farming</a:t>
            </a:r>
            <a:r>
              <a:rPr spc="-20" dirty="0"/>
              <a:t> </a:t>
            </a:r>
            <a:r>
              <a:rPr dirty="0"/>
              <a:t>Marketplace</a:t>
            </a:r>
            <a:r>
              <a:rPr spc="-25" dirty="0"/>
              <a:t> </a:t>
            </a:r>
            <a:r>
              <a:rPr dirty="0"/>
              <a:t>|</a:t>
            </a:r>
            <a:r>
              <a:rPr spc="-20" dirty="0"/>
              <a:t> </a:t>
            </a:r>
            <a:r>
              <a:rPr dirty="0"/>
              <a:t>MERN</a:t>
            </a:r>
            <a:r>
              <a:rPr spc="-20" dirty="0"/>
              <a:t> </a:t>
            </a:r>
            <a:r>
              <a:rPr dirty="0"/>
              <a:t>Stack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10" dirty="0"/>
              <a:t>Report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spc="-40" dirty="0"/>
              <a:t> </a:t>
            </a: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2321</Words>
  <Application>Microsoft Office PowerPoint</Application>
  <PresentationFormat>Custom</PresentationFormat>
  <Paragraphs>252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Symbol</vt:lpstr>
      <vt:lpstr>Times New Roman</vt:lpstr>
      <vt:lpstr>Office Theme</vt:lpstr>
      <vt:lpstr>ORGANIC FARMING MARKETPLACE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Akshith Reddy</cp:lastModifiedBy>
  <cp:revision>1</cp:revision>
  <dcterms:created xsi:type="dcterms:W3CDTF">2026-10-10T09:47:43Z</dcterms:created>
  <dcterms:modified xsi:type="dcterms:W3CDTF">2026-10-10T09:54:55Z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2026-10-10T00:00:00Z</vt:filetime>
  </property>
  <property fmtid="{D5CDD505-2E9C-101B-9397-08002B2CF9AE}" pid="4" name="LastSaved">
    <vt:filetime>2026-10-10T00:00:00Z</vt:filetime>
  </property>
</Properties>
</file>